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" id="{166c1194-9963-88db-8b36-c9077c17c04f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Requirements and design" id="{b09aafda-2c50-6b24-0464-f8a6f7c52501}">
          <p14:sldIdLst>
            <p14:sldId id="262"/>
            <p14:sldId id="263"/>
            <p14:sldId id="264"/>
            <p14:sldId id="265"/>
            <p14:sldId id="266"/>
          </p14:sldIdLst>
        </p14:section>
        <p14:section name="Plan and quality" id="{cc0df064-90bf-2e88-72e0-6f23023bf5cd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Closing" id="{0622086f-3fbd-a8a9-1c37-f7eb9ff79f57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EviTrack in one sentence: a web application that keeps a tamper-evident record of everything that happens to a piece of digital evidence. The chain on the right shows real entries from the running system: each entry's hash is stored in the next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Pyramid summary: problem, proposal, approach, outcome. Everything after this slide expands one of these four boxes.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weaknesses of ordinary file handling. The consequence is the reason chain of custody exists: the value of evidence depends on being able to show it has not changed and who handled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aim and six objectives. Each objective is checkable: later slides turn them into requirements, tests and success criteria.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was set to fit a 14-day solo build. Account management screens and scheduled checks are deliberately left as future work and are listed again on the limits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account roles and one stakeholder who never logs in. Using 404 rather than 403 avoids revealing that a case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functional requirements map to objectives 1 to 4; the non-functional requirements map to objectives 5 and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Browser to Flask over HTTPS. Flask is organised as three blueprints plus three core modules. Data lives in a SQLite file and an evidence folder that is never served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idea. Editing any past entry changes its hash, which no longer matches the prev_hash stored in the next entry. The triggers stop changes made through SQL, and the chain detects changes made by someone who bypasses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schema is deliberately small. custody_log is highlighted in red because it carries the append-only triggers. login_attempts supports the lockout.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headline threats. The full threat model is a table with a number, threat, asset, mitigation and status, and it is updated after every development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Agile in spirit but sized for one person: every step starts with a GitHub issue and ends with a merged pull request and updated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choice favours tools that are well documented and that the whole project can be explained with. SQLite triggers are what make the append-only log possible without extra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step is a vertical slice that ends with tests, a pull request and documentation. Security hardening, deployment and CI come after the features so the finished application is what gets hardened and deployed.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layers of checking. The CSRF test loops over the application's URL map so any POST route added later is covered automatically. The secrets check exists because a real key was once pasted into a tracked example file during development; it was caught before it was pushed.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risk matters most for a security project: the design avoids overclaiming and states what the hash chain cannot detect.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Success criteria are observable behaviours, each of which is demonstrated by a test or a screenshot in the final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Stating limits is part of the design. The hash chain cannot see deletion of the newest entries, which is why the latest hash is printed on every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six objectives were met. Figures are from the last full test and coverage run. The release tag and the account-management screens are the only open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63093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91840"/>
            <a:ext cx="6126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CFD8E3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EviTrack  |  Project proposal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1B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2"/>
                </a:solidFill>
              </a:rPr>
              <a:t>EviTrack  |  Project proposal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EviTrack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9184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CFD8E3"/>
                </a:solidFill>
              </a:rPr>
              <a:t>A tamper-evident chain-of-custody manager for digital evidence</a:t>
            </a:r>
            <a:endParaRPr lang="en-US" sz="2400" dirty="0"/>
          </a:p>
        </p:txBody>
      </p:sp>
      <p:sp>
        <p:nvSpPr>
          <p:cNvPr id="4" name="Programme line"/>
          <p:cNvSpPr txBox="1"/>
          <p:nvPr/>
        </p:nvSpPr>
        <p:spPr>
          <a:xfrm>
            <a:off x="640080" y="5074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C2"/>
                </a:solidFill>
              </a:rPr>
              <a:t>Capstone project proposal</a:t>
            </a:r>
            <a:endParaRPr lang="en-US" sz="1400" dirty="0"/>
          </a:p>
        </p:txBody>
      </p:sp>
      <p:sp>
        <p:nvSpPr>
          <p:cNvPr id="5" name="Author line"/>
          <p:cNvSpPr txBox="1"/>
          <p:nvPr/>
        </p:nvSpPr>
        <p:spPr>
          <a:xfrm>
            <a:off x="640080" y="5440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C2"/>
                </a:solidFill>
              </a:rPr>
              <a:t>Sam Kariuki  |  October 2026</a:t>
            </a:r>
            <a:endParaRPr lang="en-US" sz="1400" dirty="0"/>
          </a:p>
        </p:txBody>
      </p:sp>
      <p:sp>
        <p:nvSpPr>
          <p:cNvPr id="6" name="Chain entry 1"/>
          <p:cNvSpPr/>
          <p:nvPr/>
        </p:nvSpPr>
        <p:spPr>
          <a:xfrm>
            <a:off x="7635240" y="141732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accent6"/>
          </a:solidFill>
          <a:ln w="12700">
            <a:solidFill>
              <a:srgbClr val="46607A"/>
            </a:solidFill>
            <a:prstDash val="solid"/>
          </a:ln>
        </p:spPr>
      </p:sp>
      <p:sp>
        <p:nvSpPr>
          <p:cNvPr id="7" name="Status dot 1"/>
          <p:cNvSpPr/>
          <p:nvPr/>
        </p:nvSpPr>
        <p:spPr>
          <a:xfrm>
            <a:off x="7863840" y="1764792"/>
            <a:ext cx="219456" cy="219456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8" name="Entry action 1"/>
          <p:cNvSpPr txBox="1"/>
          <p:nvPr/>
        </p:nvSpPr>
        <p:spPr>
          <a:xfrm>
            <a:off x="8275320" y="15727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UPLOADED</a:t>
            </a:r>
            <a:endParaRPr lang="en-US" sz="1600" dirty="0"/>
          </a:p>
        </p:txBody>
      </p:sp>
      <p:sp>
        <p:nvSpPr>
          <p:cNvPr id="9" name="Entry hash 1"/>
          <p:cNvSpPr txBox="1"/>
          <p:nvPr/>
        </p:nvSpPr>
        <p:spPr>
          <a:xfrm>
            <a:off x="827532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D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c281d72f18b49674...</a:t>
            </a:r>
            <a:endParaRPr lang="en-US" sz="1200" dirty="0"/>
          </a:p>
        </p:txBody>
      </p:sp>
      <p:sp>
        <p:nvSpPr>
          <p:cNvPr id="10" name="Chain link 1"/>
          <p:cNvSpPr/>
          <p:nvPr/>
        </p:nvSpPr>
        <p:spPr>
          <a:xfrm>
            <a:off x="9601200" y="2423160"/>
            <a:ext cx="0" cy="50292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11" name="Chain entry 2"/>
          <p:cNvSpPr/>
          <p:nvPr/>
        </p:nvSpPr>
        <p:spPr>
          <a:xfrm>
            <a:off x="7635240" y="292608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accent6"/>
          </a:solidFill>
          <a:ln w="12700">
            <a:solidFill>
              <a:srgbClr val="46607A"/>
            </a:solidFill>
            <a:prstDash val="solid"/>
          </a:ln>
        </p:spPr>
      </p:sp>
      <p:sp>
        <p:nvSpPr>
          <p:cNvPr id="12" name="Status dot 2"/>
          <p:cNvSpPr/>
          <p:nvPr/>
        </p:nvSpPr>
        <p:spPr>
          <a:xfrm>
            <a:off x="7863840" y="3273552"/>
            <a:ext cx="219456" cy="219456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13" name="Entry action 2"/>
          <p:cNvSpPr txBox="1"/>
          <p:nvPr/>
        </p:nvSpPr>
        <p:spPr>
          <a:xfrm>
            <a:off x="8275320" y="30815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VIEWED</a:t>
            </a:r>
            <a:endParaRPr lang="en-US" sz="1600" dirty="0"/>
          </a:p>
        </p:txBody>
      </p:sp>
      <p:sp>
        <p:nvSpPr>
          <p:cNvPr id="14" name="Entry hash 2"/>
          <p:cNvSpPr txBox="1"/>
          <p:nvPr/>
        </p:nvSpPr>
        <p:spPr>
          <a:xfrm>
            <a:off x="827532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D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93b72d0e9dadaf12...</a:t>
            </a:r>
            <a:endParaRPr lang="en-US" sz="1200" dirty="0"/>
          </a:p>
        </p:txBody>
      </p:sp>
      <p:sp>
        <p:nvSpPr>
          <p:cNvPr id="15" name="Chain link 2"/>
          <p:cNvSpPr/>
          <p:nvPr/>
        </p:nvSpPr>
        <p:spPr>
          <a:xfrm>
            <a:off x="9601200" y="3931920"/>
            <a:ext cx="0" cy="50292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16" name="Chain entry 3"/>
          <p:cNvSpPr/>
          <p:nvPr/>
        </p:nvSpPr>
        <p:spPr>
          <a:xfrm>
            <a:off x="7635240" y="443484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accent6"/>
          </a:solidFill>
          <a:ln w="12700">
            <a:solidFill>
              <a:srgbClr val="46607A"/>
            </a:solidFill>
            <a:prstDash val="solid"/>
          </a:ln>
        </p:spPr>
      </p:sp>
      <p:sp>
        <p:nvSpPr>
          <p:cNvPr id="17" name="Status dot 3"/>
          <p:cNvSpPr/>
          <p:nvPr/>
        </p:nvSpPr>
        <p:spPr>
          <a:xfrm>
            <a:off x="7863840" y="4782312"/>
            <a:ext cx="219456" cy="219456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18" name="Entry action 3"/>
          <p:cNvSpPr txBox="1"/>
          <p:nvPr/>
        </p:nvSpPr>
        <p:spPr>
          <a:xfrm>
            <a:off x="8275320" y="45902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DOWNLOADED</a:t>
            </a:r>
            <a:endParaRPr lang="en-US" sz="1600" dirty="0"/>
          </a:p>
        </p:txBody>
      </p:sp>
      <p:sp>
        <p:nvSpPr>
          <p:cNvPr id="19" name="Entry hash 3"/>
          <p:cNvSpPr txBox="1"/>
          <p:nvPr/>
        </p:nvSpPr>
        <p:spPr>
          <a:xfrm>
            <a:off x="8275320" y="4937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D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208b6cdb5ae6bf6d...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EviTrack shows when evidence has been changed</a:t>
            </a:r>
            <a:endParaRPr lang="en-US" sz="3400" dirty="0"/>
          </a:p>
        </p:txBody>
      </p:sp>
      <p:sp>
        <p:nvSpPr>
          <p:cNvPr id="3" name="Summary card 1"/>
          <p:cNvSpPr/>
          <p:nvPr/>
        </p:nvSpPr>
        <p:spPr>
          <a:xfrm>
            <a:off x="548640" y="146304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FaExclamationTriangle circle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FaExclamationTriangle" descr="ExclamationTriang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1910182"/>
            <a:ext cx="294437" cy="294437"/>
          </a:xfrm>
          <a:prstGeom prst="rect">
            <a:avLst/>
          </a:prstGeom>
        </p:spPr>
      </p:pic>
      <p:sp>
        <p:nvSpPr>
          <p:cNvPr id="6" name="Summary label 1"/>
          <p:cNvSpPr txBox="1"/>
          <p:nvPr/>
        </p:nvSpPr>
        <p:spPr>
          <a:xfrm>
            <a:off x="1645920" y="18470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The problem</a:t>
            </a:r>
            <a:endParaRPr lang="en-US" sz="2200" dirty="0"/>
          </a:p>
        </p:txBody>
      </p:sp>
      <p:sp>
        <p:nvSpPr>
          <p:cNvPr id="7" name="Summary text 1"/>
          <p:cNvSpPr txBox="1"/>
          <p:nvPr/>
        </p:nvSpPr>
        <p:spPr>
          <a:xfrm>
            <a:off x="822960" y="2514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Evidence files can change without a trace and handling records are easy to edit, so integrity is hard to prove.</a:t>
            </a:r>
            <a:endParaRPr lang="en-US" sz="1600" dirty="0"/>
          </a:p>
        </p:txBody>
      </p:sp>
      <p:sp>
        <p:nvSpPr>
          <p:cNvPr id="8" name="Summary card 2"/>
          <p:cNvSpPr/>
          <p:nvPr/>
        </p:nvSpPr>
        <p:spPr>
          <a:xfrm>
            <a:off x="6245352" y="146304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FaFingerprint circle"/>
          <p:cNvSpPr/>
          <p:nvPr/>
        </p:nvSpPr>
        <p:spPr>
          <a:xfrm>
            <a:off x="6519672" y="17373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FaFingerprint" descr="Fingerprin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494" y="1910182"/>
            <a:ext cx="294437" cy="294437"/>
          </a:xfrm>
          <a:prstGeom prst="rect">
            <a:avLst/>
          </a:prstGeom>
        </p:spPr>
      </p:pic>
      <p:sp>
        <p:nvSpPr>
          <p:cNvPr id="11" name="Summary label 2"/>
          <p:cNvSpPr txBox="1"/>
          <p:nvPr/>
        </p:nvSpPr>
        <p:spPr>
          <a:xfrm>
            <a:off x="7342632" y="18470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The proposal</a:t>
            </a:r>
            <a:endParaRPr lang="en-US" sz="2200" dirty="0"/>
          </a:p>
        </p:txBody>
      </p:sp>
      <p:sp>
        <p:nvSpPr>
          <p:cNvPr id="12" name="Summary text 2"/>
          <p:cNvSpPr txBox="1"/>
          <p:nvPr/>
        </p:nvSpPr>
        <p:spPr>
          <a:xfrm>
            <a:off x="6519672" y="2514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web app that hashes every file with SHA-256 and writes each action to an append-only, hash-chained custody log.</a:t>
            </a:r>
            <a:endParaRPr lang="en-US" sz="1600" dirty="0"/>
          </a:p>
        </p:txBody>
      </p:sp>
      <p:sp>
        <p:nvSpPr>
          <p:cNvPr id="13" name="Summary card 3"/>
          <p:cNvSpPr/>
          <p:nvPr/>
        </p:nvSpPr>
        <p:spPr>
          <a:xfrm>
            <a:off x="548640" y="388620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FaClipboardList circle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FaClipboardList" descr="ClipboardLis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2" y="4333342"/>
            <a:ext cx="294437" cy="294437"/>
          </a:xfrm>
          <a:prstGeom prst="rect">
            <a:avLst/>
          </a:prstGeom>
        </p:spPr>
      </p:pic>
      <p:sp>
        <p:nvSpPr>
          <p:cNvPr id="16" name="Summary label 3"/>
          <p:cNvSpPr txBox="1"/>
          <p:nvPr/>
        </p:nvSpPr>
        <p:spPr>
          <a:xfrm>
            <a:off x="1645920" y="4270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The approach</a:t>
            </a:r>
            <a:endParaRPr lang="en-US" sz="2200" dirty="0"/>
          </a:p>
        </p:txBody>
      </p:sp>
      <p:sp>
        <p:nvSpPr>
          <p:cNvPr id="17" name="Summary text 3"/>
          <p:cNvSpPr txBox="1"/>
          <p:nvPr/>
        </p:nvSpPr>
        <p:spPr>
          <a:xfrm>
            <a:off x="822960" y="4937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Threat-model-led development in small tracked steps, with automated tests, continuous integration and a live deployment.</a:t>
            </a:r>
            <a:endParaRPr lang="en-US" sz="1600" dirty="0"/>
          </a:p>
        </p:txBody>
      </p:sp>
      <p:sp>
        <p:nvSpPr>
          <p:cNvPr id="18" name="Summary card 4"/>
          <p:cNvSpPr/>
          <p:nvPr/>
        </p:nvSpPr>
        <p:spPr>
          <a:xfrm>
            <a:off x="6245352" y="388620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FaCheckCircle circle"/>
          <p:cNvSpPr/>
          <p:nvPr/>
        </p:nvSpPr>
        <p:spPr>
          <a:xfrm>
            <a:off x="6519672" y="41605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FaCheckCircle" descr="CheckCircl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494" y="4333342"/>
            <a:ext cx="294437" cy="294437"/>
          </a:xfrm>
          <a:prstGeom prst="rect">
            <a:avLst/>
          </a:prstGeom>
        </p:spPr>
      </p:pic>
      <p:sp>
        <p:nvSpPr>
          <p:cNvPr id="21" name="Summary label 4"/>
          <p:cNvSpPr txBox="1"/>
          <p:nvPr/>
        </p:nvSpPr>
        <p:spPr>
          <a:xfrm>
            <a:off x="7342632" y="4270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The outcome</a:t>
            </a:r>
            <a:endParaRPr lang="en-US" sz="2200" dirty="0"/>
          </a:p>
        </p:txBody>
      </p:sp>
      <p:sp>
        <p:nvSpPr>
          <p:cNvPr id="22" name="Summary text 4"/>
          <p:cNvSpPr txBox="1"/>
          <p:nvPr/>
        </p:nvSpPr>
        <p:spPr>
          <a:xfrm>
            <a:off x="6519672" y="4937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tested, documented system that lets an investigator show that evidence is intact, or show exactly where it was not.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Digital evidence is easy to change and hard to defend</a:t>
            </a:r>
            <a:endParaRPr lang="en-US" sz="3400" dirty="0"/>
          </a:p>
        </p:txBody>
      </p:sp>
      <p:sp>
        <p:nvSpPr>
          <p:cNvPr id="3" name="Problem card 1"/>
          <p:cNvSpPr/>
          <p:nvPr/>
        </p:nvSpPr>
        <p:spPr>
          <a:xfrm>
            <a:off x="548640" y="146304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4" name="FaPencilAlt circle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FaPencilAlt" descr="PencilA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934870"/>
            <a:ext cx="336499" cy="336499"/>
          </a:xfrm>
          <a:prstGeom prst="rect">
            <a:avLst/>
          </a:prstGeom>
        </p:spPr>
      </p:pic>
      <p:sp>
        <p:nvSpPr>
          <p:cNvPr id="6" name="Problem label 1"/>
          <p:cNvSpPr txBox="1"/>
          <p:nvPr/>
        </p:nvSpPr>
        <p:spPr>
          <a:xfrm>
            <a:off x="822960" y="2697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Silent change</a:t>
            </a:r>
            <a:endParaRPr lang="en-US" sz="2200" dirty="0"/>
          </a:p>
        </p:txBody>
      </p:sp>
      <p:sp>
        <p:nvSpPr>
          <p:cNvPr id="7" name="Problem text 1"/>
          <p:cNvSpPr txBox="1"/>
          <p:nvPr/>
        </p:nvSpPr>
        <p:spPr>
          <a:xfrm>
            <a:off x="822960" y="32004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file can be altered or swapped and nothing shows it. A copy that looks the same may not be the same.</a:t>
            </a:r>
            <a:endParaRPr lang="en-US" sz="1600" dirty="0"/>
          </a:p>
        </p:txBody>
      </p:sp>
      <p:sp>
        <p:nvSpPr>
          <p:cNvPr id="8" name="Problem card 2"/>
          <p:cNvSpPr/>
          <p:nvPr/>
        </p:nvSpPr>
        <p:spPr>
          <a:xfrm>
            <a:off x="4329684" y="146304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9" name="FaTable circle"/>
          <p:cNvSpPr/>
          <p:nvPr/>
        </p:nvSpPr>
        <p:spPr>
          <a:xfrm>
            <a:off x="4604004" y="17373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FaTable" descr="Tab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514" y="1934870"/>
            <a:ext cx="336499" cy="336499"/>
          </a:xfrm>
          <a:prstGeom prst="rect">
            <a:avLst/>
          </a:prstGeom>
        </p:spPr>
      </p:pic>
      <p:sp>
        <p:nvSpPr>
          <p:cNvPr id="11" name="Problem label 2"/>
          <p:cNvSpPr txBox="1"/>
          <p:nvPr/>
        </p:nvSpPr>
        <p:spPr>
          <a:xfrm>
            <a:off x="4604004" y="2697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Editable records</a:t>
            </a:r>
            <a:endParaRPr lang="en-US" sz="2200" dirty="0"/>
          </a:p>
        </p:txBody>
      </p:sp>
      <p:sp>
        <p:nvSpPr>
          <p:cNvPr id="12" name="Problem text 2"/>
          <p:cNvSpPr txBox="1"/>
          <p:nvPr/>
        </p:nvSpPr>
        <p:spPr>
          <a:xfrm>
            <a:off x="4604004" y="32004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Handling notes kept in spreadsheets or ordinary logs can be edited later without anyone noticing.</a:t>
            </a:r>
            <a:endParaRPr lang="en-US" sz="1600" dirty="0"/>
          </a:p>
        </p:txBody>
      </p:sp>
      <p:sp>
        <p:nvSpPr>
          <p:cNvPr id="13" name="Problem card 3"/>
          <p:cNvSpPr/>
          <p:nvPr/>
        </p:nvSpPr>
        <p:spPr>
          <a:xfrm>
            <a:off x="8110728" y="146304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4" name="FaUserClock circle"/>
          <p:cNvSpPr/>
          <p:nvPr/>
        </p:nvSpPr>
        <p:spPr>
          <a:xfrm>
            <a:off x="8385048" y="17373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FaUserClock" descr="UserClo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558" y="1934870"/>
            <a:ext cx="336499" cy="336499"/>
          </a:xfrm>
          <a:prstGeom prst="rect">
            <a:avLst/>
          </a:prstGeom>
        </p:spPr>
      </p:pic>
      <p:sp>
        <p:nvSpPr>
          <p:cNvPr id="16" name="Problem label 3"/>
          <p:cNvSpPr txBox="1"/>
          <p:nvPr/>
        </p:nvSpPr>
        <p:spPr>
          <a:xfrm>
            <a:off x="8385048" y="2697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Unclear handling</a:t>
            </a:r>
            <a:endParaRPr lang="en-US" sz="2200" dirty="0"/>
          </a:p>
        </p:txBody>
      </p:sp>
      <p:sp>
        <p:nvSpPr>
          <p:cNvPr id="17" name="Problem text 3"/>
          <p:cNvSpPr txBox="1"/>
          <p:nvPr/>
        </p:nvSpPr>
        <p:spPr>
          <a:xfrm>
            <a:off x="8385048" y="32004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Who opened, copied or checked an item, and when, is often unrecorded or hard to reconstruct.</a:t>
            </a:r>
            <a:endParaRPr lang="en-US" sz="1600" dirty="0"/>
          </a:p>
        </p:txBody>
      </p:sp>
      <p:sp>
        <p:nvSpPr>
          <p:cNvPr id="18" name="Consequence banner"/>
          <p:cNvSpPr/>
          <p:nvPr/>
        </p:nvSpPr>
        <p:spPr>
          <a:xfrm>
            <a:off x="548640" y="4800600"/>
            <a:ext cx="11091672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19" name="Consequence text"/>
          <p:cNvSpPr txBox="1"/>
          <p:nvPr/>
        </p:nvSpPr>
        <p:spPr>
          <a:xfrm>
            <a:off x="914400" y="48006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Without proof of integrity and proof of handling, the evidence can be challenged.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Aim and objectives</a:t>
            </a:r>
            <a:endParaRPr lang="en-US" sz="3400" dirty="0"/>
          </a:p>
        </p:txBody>
      </p:sp>
      <p:sp>
        <p:nvSpPr>
          <p:cNvPr id="3" name="Aim card"/>
          <p:cNvSpPr/>
          <p:nvPr/>
        </p:nvSpPr>
        <p:spPr>
          <a:xfrm>
            <a:off x="548640" y="1463040"/>
            <a:ext cx="3840480" cy="452628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4" name="Aim label"/>
          <p:cNvSpPr txBox="1"/>
          <p:nvPr/>
        </p:nvSpPr>
        <p:spPr>
          <a:xfrm>
            <a:off x="86868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AIM</a:t>
            </a:r>
            <a:endParaRPr lang="en-US" sz="1400" dirty="0"/>
          </a:p>
        </p:txBody>
      </p:sp>
      <p:sp>
        <p:nvSpPr>
          <p:cNvPr id="5" name="Aim text"/>
          <p:cNvSpPr txBox="1"/>
          <p:nvPr/>
        </p:nvSpPr>
        <p:spPr>
          <a:xfrm>
            <a:off x="868680" y="224028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Design, build, test and deploy a web-based evidence tracker whose records can show when evidence has been tampered with.</a:t>
            </a:r>
            <a:endParaRPr lang="en-US" sz="2200" dirty="0"/>
          </a:p>
        </p:txBody>
      </p:sp>
      <p:sp>
        <p:nvSpPr>
          <p:cNvPr id="6" name="FaBullseye circle"/>
          <p:cNvSpPr/>
          <p:nvPr/>
        </p:nvSpPr>
        <p:spPr>
          <a:xfrm>
            <a:off x="868680" y="4983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FaBullseye" descr="Bullsey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5180990"/>
            <a:ext cx="336499" cy="336499"/>
          </a:xfrm>
          <a:prstGeom prst="rect">
            <a:avLst/>
          </a:prstGeom>
        </p:spPr>
      </p:pic>
      <p:sp>
        <p:nvSpPr>
          <p:cNvPr id="8" name="Objective card 1"/>
          <p:cNvSpPr/>
          <p:nvPr/>
        </p:nvSpPr>
        <p:spPr>
          <a:xfrm>
            <a:off x="4663440" y="1463040"/>
            <a:ext cx="33832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Objective number circle 1"/>
          <p:cNvSpPr/>
          <p:nvPr/>
        </p:nvSpPr>
        <p:spPr>
          <a:xfrm>
            <a:off x="4892040" y="18745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Objective number 1"/>
          <p:cNvSpPr txBox="1"/>
          <p:nvPr/>
        </p:nvSpPr>
        <p:spPr>
          <a:xfrm>
            <a:off x="48920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Objective text 1"/>
          <p:cNvSpPr txBox="1"/>
          <p:nvPr/>
        </p:nvSpPr>
        <p:spPr>
          <a:xfrm>
            <a:off x="5623560" y="16459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Store evidence with a SHA-256 hash taken at upload</a:t>
            </a:r>
            <a:endParaRPr lang="en-US" sz="1500" dirty="0"/>
          </a:p>
        </p:txBody>
      </p:sp>
      <p:sp>
        <p:nvSpPr>
          <p:cNvPr id="12" name="Objective card 2"/>
          <p:cNvSpPr/>
          <p:nvPr/>
        </p:nvSpPr>
        <p:spPr>
          <a:xfrm>
            <a:off x="8257032" y="1463040"/>
            <a:ext cx="33832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3" name="Objective number circle 2"/>
          <p:cNvSpPr/>
          <p:nvPr/>
        </p:nvSpPr>
        <p:spPr>
          <a:xfrm>
            <a:off x="8485632" y="18745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Objective number 2"/>
          <p:cNvSpPr txBox="1"/>
          <p:nvPr/>
        </p:nvSpPr>
        <p:spPr>
          <a:xfrm>
            <a:off x="8485632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Objective text 2"/>
          <p:cNvSpPr txBox="1"/>
          <p:nvPr/>
        </p:nvSpPr>
        <p:spPr>
          <a:xfrm>
            <a:off x="9217152" y="16459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Record every action in an append-only, hash-chained log</a:t>
            </a:r>
            <a:endParaRPr lang="en-US" sz="1500" dirty="0"/>
          </a:p>
        </p:txBody>
      </p:sp>
      <p:sp>
        <p:nvSpPr>
          <p:cNvPr id="16" name="Objective card 3"/>
          <p:cNvSpPr/>
          <p:nvPr/>
        </p:nvSpPr>
        <p:spPr>
          <a:xfrm>
            <a:off x="4663440" y="3040380"/>
            <a:ext cx="33832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7" name="Objective number circle 3"/>
          <p:cNvSpPr/>
          <p:nvPr/>
        </p:nvSpPr>
        <p:spPr>
          <a:xfrm>
            <a:off x="4892040" y="34518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Objective number 3"/>
          <p:cNvSpPr txBox="1"/>
          <p:nvPr/>
        </p:nvSpPr>
        <p:spPr>
          <a:xfrm>
            <a:off x="4892040" y="34518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Objective text 3"/>
          <p:cNvSpPr txBox="1"/>
          <p:nvPr/>
        </p:nvSpPr>
        <p:spPr>
          <a:xfrm>
            <a:off x="5623560" y="32232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Verify integrity on demand and before every download</a:t>
            </a:r>
            <a:endParaRPr lang="en-US" sz="1500" dirty="0"/>
          </a:p>
        </p:txBody>
      </p:sp>
      <p:sp>
        <p:nvSpPr>
          <p:cNvPr id="20" name="Objective card 4"/>
          <p:cNvSpPr/>
          <p:nvPr/>
        </p:nvSpPr>
        <p:spPr>
          <a:xfrm>
            <a:off x="8257032" y="3040380"/>
            <a:ext cx="33832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1" name="Objective number circle 4"/>
          <p:cNvSpPr/>
          <p:nvPr/>
        </p:nvSpPr>
        <p:spPr>
          <a:xfrm>
            <a:off x="8485632" y="34518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2" name="Objective number 4"/>
          <p:cNvSpPr txBox="1"/>
          <p:nvPr/>
        </p:nvSpPr>
        <p:spPr>
          <a:xfrm>
            <a:off x="8485632" y="34518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Objective text 4"/>
          <p:cNvSpPr txBox="1"/>
          <p:nvPr/>
        </p:nvSpPr>
        <p:spPr>
          <a:xfrm>
            <a:off x="9217152" y="32232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Produce a printable case report with PASS or FAIL results</a:t>
            </a:r>
            <a:endParaRPr lang="en-US" sz="1500" dirty="0"/>
          </a:p>
        </p:txBody>
      </p:sp>
      <p:sp>
        <p:nvSpPr>
          <p:cNvPr id="24" name="Objective card 5"/>
          <p:cNvSpPr/>
          <p:nvPr/>
        </p:nvSpPr>
        <p:spPr>
          <a:xfrm>
            <a:off x="4663440" y="4617720"/>
            <a:ext cx="33832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5" name="Objective number circle 5"/>
          <p:cNvSpPr/>
          <p:nvPr/>
        </p:nvSpPr>
        <p:spPr>
          <a:xfrm>
            <a:off x="4892040" y="50292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6" name="Objective number 5"/>
          <p:cNvSpPr txBox="1"/>
          <p:nvPr/>
        </p:nvSpPr>
        <p:spPr>
          <a:xfrm>
            <a:off x="489204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Objective text 5"/>
          <p:cNvSpPr txBox="1"/>
          <p:nvPr/>
        </p:nvSpPr>
        <p:spPr>
          <a:xfrm>
            <a:off x="5623560" y="4800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Defend against common web attacks, guided by a threat model</a:t>
            </a:r>
            <a:endParaRPr lang="en-US" sz="1500" dirty="0"/>
          </a:p>
        </p:txBody>
      </p:sp>
      <p:sp>
        <p:nvSpPr>
          <p:cNvPr id="28" name="Objective card 6"/>
          <p:cNvSpPr/>
          <p:nvPr/>
        </p:nvSpPr>
        <p:spPr>
          <a:xfrm>
            <a:off x="8257032" y="4617720"/>
            <a:ext cx="33832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9" name="Objective number circle 6"/>
          <p:cNvSpPr/>
          <p:nvPr/>
        </p:nvSpPr>
        <p:spPr>
          <a:xfrm>
            <a:off x="8485632" y="50292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0" name="Objective number 6"/>
          <p:cNvSpPr txBox="1"/>
          <p:nvPr/>
        </p:nvSpPr>
        <p:spPr>
          <a:xfrm>
            <a:off x="8485632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Objective text 6"/>
          <p:cNvSpPr txBox="1"/>
          <p:nvPr/>
        </p:nvSpPr>
        <p:spPr>
          <a:xfrm>
            <a:off x="9217152" y="4800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Test automatically, deploy online and document it all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is in scope, and what is not</a:t>
            </a:r>
            <a:endParaRPr lang="en-US" sz="3400" dirty="0"/>
          </a:p>
        </p:txBody>
      </p:sp>
      <p:sp>
        <p:nvSpPr>
          <p:cNvPr id="3" name="In scope panel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4" name="In scope chip"/>
          <p:cNvSpPr/>
          <p:nvPr/>
        </p:nvSpPr>
        <p:spPr>
          <a:xfrm>
            <a:off x="822960" y="1737360"/>
            <a:ext cx="2011680" cy="457200"/>
          </a:xfrm>
          <a:prstGeom prst="roundRect">
            <a:avLst>
              <a:gd name="adj" fmla="val 24000"/>
            </a:avLst>
          </a:prstGeom>
          <a:solidFill>
            <a:schemeClr val="accent3"/>
          </a:solidFill>
          <a:ln/>
        </p:spPr>
      </p:sp>
      <p:sp>
        <p:nvSpPr>
          <p:cNvPr id="5" name="In scope label"/>
          <p:cNvSpPr txBox="1"/>
          <p:nvPr/>
        </p:nvSpPr>
        <p:spPr>
          <a:xfrm>
            <a:off x="82296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 scope</a:t>
            </a:r>
            <a:endParaRPr lang="en-US" sz="1600" dirty="0"/>
          </a:p>
        </p:txBody>
      </p:sp>
      <p:sp>
        <p:nvSpPr>
          <p:cNvPr id="6" name="FaCheck circle"/>
          <p:cNvSpPr/>
          <p:nvPr/>
        </p:nvSpPr>
        <p:spPr>
          <a:xfrm>
            <a:off x="822960" y="2496312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FaCheck" descr="Che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902" y="2580254"/>
            <a:ext cx="143012" cy="143012"/>
          </a:xfrm>
          <a:prstGeom prst="rect">
            <a:avLst/>
          </a:prstGeom>
        </p:spPr>
      </p:pic>
      <p:sp>
        <p:nvSpPr>
          <p:cNvPr id="8" name="In scope item 1"/>
          <p:cNvSpPr txBox="1"/>
          <p:nvPr/>
        </p:nvSpPr>
        <p:spPr>
          <a:xfrm>
            <a:off x="1325880" y="2468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Accounts with investigator and admin roles</a:t>
            </a:r>
            <a:endParaRPr lang="en-US" sz="1500" dirty="0"/>
          </a:p>
        </p:txBody>
      </p:sp>
      <p:sp>
        <p:nvSpPr>
          <p:cNvPr id="9" name="FaCheck circle"/>
          <p:cNvSpPr/>
          <p:nvPr/>
        </p:nvSpPr>
        <p:spPr>
          <a:xfrm>
            <a:off x="822960" y="2999232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FaCheck" descr="Che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02" y="3083174"/>
            <a:ext cx="143012" cy="143012"/>
          </a:xfrm>
          <a:prstGeom prst="rect">
            <a:avLst/>
          </a:prstGeom>
        </p:spPr>
      </p:pic>
      <p:sp>
        <p:nvSpPr>
          <p:cNvPr id="11" name="In scope item 2"/>
          <p:cNvSpPr txBox="1"/>
          <p:nvPr/>
        </p:nvSpPr>
        <p:spPr>
          <a:xfrm>
            <a:off x="1325880" y="2971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Case management with open and closed status</a:t>
            </a:r>
            <a:endParaRPr lang="en-US" sz="1500" dirty="0"/>
          </a:p>
        </p:txBody>
      </p:sp>
      <p:sp>
        <p:nvSpPr>
          <p:cNvPr id="12" name="FaCheck circle"/>
          <p:cNvSpPr/>
          <p:nvPr/>
        </p:nvSpPr>
        <p:spPr>
          <a:xfrm>
            <a:off x="822960" y="3502152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FaCheck" descr="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902" y="3586094"/>
            <a:ext cx="143012" cy="143012"/>
          </a:xfrm>
          <a:prstGeom prst="rect">
            <a:avLst/>
          </a:prstGeom>
        </p:spPr>
      </p:pic>
      <p:sp>
        <p:nvSpPr>
          <p:cNvPr id="14" name="In scope item 3"/>
          <p:cNvSpPr txBox="1"/>
          <p:nvPr/>
        </p:nvSpPr>
        <p:spPr>
          <a:xfrm>
            <a:off x="1325880" y="3474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Evidence upload with validation and SHA-256</a:t>
            </a:r>
            <a:endParaRPr lang="en-US" sz="1500" dirty="0"/>
          </a:p>
        </p:txBody>
      </p:sp>
      <p:sp>
        <p:nvSpPr>
          <p:cNvPr id="15" name="FaCheck circle"/>
          <p:cNvSpPr/>
          <p:nvPr/>
        </p:nvSpPr>
        <p:spPr>
          <a:xfrm>
            <a:off x="822960" y="4005072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FaCheck" descr="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902" y="4089014"/>
            <a:ext cx="143012" cy="143012"/>
          </a:xfrm>
          <a:prstGeom prst="rect">
            <a:avLst/>
          </a:prstGeom>
        </p:spPr>
      </p:pic>
      <p:sp>
        <p:nvSpPr>
          <p:cNvPr id="17" name="In scope item 4"/>
          <p:cNvSpPr txBox="1"/>
          <p:nvPr/>
        </p:nvSpPr>
        <p:spPr>
          <a:xfrm>
            <a:off x="1325880" y="3977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Append-only, hash-chained custody log</a:t>
            </a:r>
            <a:endParaRPr lang="en-US" sz="1500" dirty="0"/>
          </a:p>
        </p:txBody>
      </p:sp>
      <p:sp>
        <p:nvSpPr>
          <p:cNvPr id="18" name="FaCheck circle"/>
          <p:cNvSpPr/>
          <p:nvPr/>
        </p:nvSpPr>
        <p:spPr>
          <a:xfrm>
            <a:off x="822960" y="4507992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FaCheck" descr="Chec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902" y="4591934"/>
            <a:ext cx="143012" cy="143012"/>
          </a:xfrm>
          <a:prstGeom prst="rect">
            <a:avLst/>
          </a:prstGeom>
        </p:spPr>
      </p:pic>
      <p:sp>
        <p:nvSpPr>
          <p:cNvPr id="20" name="In scope item 5"/>
          <p:cNvSpPr txBox="1"/>
          <p:nvPr/>
        </p:nvSpPr>
        <p:spPr>
          <a:xfrm>
            <a:off x="1325880" y="4480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Integrity checks that block altered downloads</a:t>
            </a:r>
            <a:endParaRPr lang="en-US" sz="1500" dirty="0"/>
          </a:p>
        </p:txBody>
      </p:sp>
      <p:sp>
        <p:nvSpPr>
          <p:cNvPr id="21" name="FaCheck circle"/>
          <p:cNvSpPr/>
          <p:nvPr/>
        </p:nvSpPr>
        <p:spPr>
          <a:xfrm>
            <a:off x="822960" y="5010912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FaCheck" descr="Che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902" y="5094854"/>
            <a:ext cx="143012" cy="143012"/>
          </a:xfrm>
          <a:prstGeom prst="rect">
            <a:avLst/>
          </a:prstGeom>
        </p:spPr>
      </p:pic>
      <p:sp>
        <p:nvSpPr>
          <p:cNvPr id="23" name="In scope item 6"/>
          <p:cNvSpPr txBox="1"/>
          <p:nvPr/>
        </p:nvSpPr>
        <p:spPr>
          <a:xfrm>
            <a:off x="1325880" y="4983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Printable case report with chain status</a:t>
            </a:r>
            <a:endParaRPr lang="en-US" sz="1500" dirty="0"/>
          </a:p>
        </p:txBody>
      </p:sp>
      <p:sp>
        <p:nvSpPr>
          <p:cNvPr id="24" name="FaCheck circle"/>
          <p:cNvSpPr/>
          <p:nvPr/>
        </p:nvSpPr>
        <p:spPr>
          <a:xfrm>
            <a:off x="822960" y="5513832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FaCheck" descr="Check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902" y="5597774"/>
            <a:ext cx="143012" cy="143012"/>
          </a:xfrm>
          <a:prstGeom prst="rect">
            <a:avLst/>
          </a:prstGeom>
        </p:spPr>
      </p:pic>
      <p:sp>
        <p:nvSpPr>
          <p:cNvPr id="26" name="In scope item 7"/>
          <p:cNvSpPr txBox="1"/>
          <p:nvPr/>
        </p:nvSpPr>
        <p:spPr>
          <a:xfrm>
            <a:off x="1325880" y="5486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Hardening, tests, CI and a live deployment</a:t>
            </a:r>
            <a:endParaRPr lang="en-US" sz="1500" dirty="0"/>
          </a:p>
        </p:txBody>
      </p:sp>
      <p:sp>
        <p:nvSpPr>
          <p:cNvPr id="27" name="Out of scope panel"/>
          <p:cNvSpPr/>
          <p:nvPr/>
        </p:nvSpPr>
        <p:spPr>
          <a:xfrm>
            <a:off x="6245352" y="1463040"/>
            <a:ext cx="539496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28" name="Out of scope chip"/>
          <p:cNvSpPr/>
          <p:nvPr/>
        </p:nvSpPr>
        <p:spPr>
          <a:xfrm>
            <a:off x="6519672" y="1737360"/>
            <a:ext cx="2011680" cy="457200"/>
          </a:xfrm>
          <a:prstGeom prst="roundRect">
            <a:avLst>
              <a:gd name="adj" fmla="val 24000"/>
            </a:avLst>
          </a:prstGeom>
          <a:solidFill>
            <a:schemeClr val="accent5"/>
          </a:solidFill>
          <a:ln/>
        </p:spPr>
      </p:sp>
      <p:sp>
        <p:nvSpPr>
          <p:cNvPr id="29" name="Out of scope label"/>
          <p:cNvSpPr txBox="1"/>
          <p:nvPr/>
        </p:nvSpPr>
        <p:spPr>
          <a:xfrm>
            <a:off x="6519672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Out of scope</a:t>
            </a:r>
            <a:endParaRPr lang="en-US" sz="1600" dirty="0"/>
          </a:p>
        </p:txBody>
      </p:sp>
      <p:sp>
        <p:nvSpPr>
          <p:cNvPr id="30" name="FaTimes circle"/>
          <p:cNvSpPr/>
          <p:nvPr/>
        </p:nvSpPr>
        <p:spPr>
          <a:xfrm>
            <a:off x="6519672" y="2496312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1" name="FaTimes" descr="Times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3614" y="2580254"/>
            <a:ext cx="143012" cy="143012"/>
          </a:xfrm>
          <a:prstGeom prst="rect">
            <a:avLst/>
          </a:prstGeom>
        </p:spPr>
      </p:pic>
      <p:sp>
        <p:nvSpPr>
          <p:cNvPr id="32" name="Out of scope item 1"/>
          <p:cNvSpPr txBox="1"/>
          <p:nvPr/>
        </p:nvSpPr>
        <p:spPr>
          <a:xfrm>
            <a:off x="7022592" y="2468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Forensic analysis of file contents</a:t>
            </a:r>
            <a:endParaRPr lang="en-US" sz="1500" dirty="0"/>
          </a:p>
        </p:txBody>
      </p:sp>
      <p:sp>
        <p:nvSpPr>
          <p:cNvPr id="33" name="FaTimes circle"/>
          <p:cNvSpPr/>
          <p:nvPr/>
        </p:nvSpPr>
        <p:spPr>
          <a:xfrm>
            <a:off x="6519672" y="2999232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4" name="FaTimes" descr="Times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3614" y="3083174"/>
            <a:ext cx="143012" cy="143012"/>
          </a:xfrm>
          <a:prstGeom prst="rect">
            <a:avLst/>
          </a:prstGeom>
        </p:spPr>
      </p:pic>
      <p:sp>
        <p:nvSpPr>
          <p:cNvPr id="35" name="Out of scope item 2"/>
          <p:cNvSpPr txBox="1"/>
          <p:nvPr/>
        </p:nvSpPr>
        <p:spPr>
          <a:xfrm>
            <a:off x="7022592" y="2971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Disk imaging or acquisition tools</a:t>
            </a:r>
            <a:endParaRPr lang="en-US" sz="1500" dirty="0"/>
          </a:p>
        </p:txBody>
      </p:sp>
      <p:sp>
        <p:nvSpPr>
          <p:cNvPr id="36" name="FaTimes circle"/>
          <p:cNvSpPr/>
          <p:nvPr/>
        </p:nvSpPr>
        <p:spPr>
          <a:xfrm>
            <a:off x="6519672" y="3502152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7" name="FaTimes" descr="Times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3614" y="3586094"/>
            <a:ext cx="143012" cy="143012"/>
          </a:xfrm>
          <a:prstGeom prst="rect">
            <a:avLst/>
          </a:prstGeom>
        </p:spPr>
      </p:pic>
      <p:sp>
        <p:nvSpPr>
          <p:cNvPr id="38" name="Out of scope item 3"/>
          <p:cNvSpPr txBox="1"/>
          <p:nvPr/>
        </p:nvSpPr>
        <p:spPr>
          <a:xfrm>
            <a:off x="7022592" y="3474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Password reset by email or single sign-on</a:t>
            </a:r>
            <a:endParaRPr lang="en-US" sz="1500" dirty="0"/>
          </a:p>
        </p:txBody>
      </p:sp>
      <p:sp>
        <p:nvSpPr>
          <p:cNvPr id="39" name="FaTimes circle"/>
          <p:cNvSpPr/>
          <p:nvPr/>
        </p:nvSpPr>
        <p:spPr>
          <a:xfrm>
            <a:off x="6519672" y="4005072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0" name="FaTimes" descr="Times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3614" y="4089014"/>
            <a:ext cx="143012" cy="143012"/>
          </a:xfrm>
          <a:prstGeom prst="rect">
            <a:avLst/>
          </a:prstGeom>
        </p:spPr>
      </p:pic>
      <p:sp>
        <p:nvSpPr>
          <p:cNvPr id="41" name="Out of scope item 4"/>
          <p:cNvSpPr txBox="1"/>
          <p:nvPr/>
        </p:nvSpPr>
        <p:spPr>
          <a:xfrm>
            <a:off x="7022592" y="3977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Admin screens to disable accounts (future work)</a:t>
            </a:r>
            <a:endParaRPr lang="en-US" sz="1500" dirty="0"/>
          </a:p>
        </p:txBody>
      </p:sp>
      <p:sp>
        <p:nvSpPr>
          <p:cNvPr id="42" name="FaTimes circle"/>
          <p:cNvSpPr/>
          <p:nvPr/>
        </p:nvSpPr>
        <p:spPr>
          <a:xfrm>
            <a:off x="6519672" y="4507992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3" name="FaTimes" descr="Times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03614" y="4591934"/>
            <a:ext cx="143012" cy="143012"/>
          </a:xfrm>
          <a:prstGeom prst="rect">
            <a:avLst/>
          </a:prstGeom>
        </p:spPr>
      </p:pic>
      <p:sp>
        <p:nvSpPr>
          <p:cNvPr id="44" name="Out of scope item 5"/>
          <p:cNvSpPr txBox="1"/>
          <p:nvPr/>
        </p:nvSpPr>
        <p:spPr>
          <a:xfrm>
            <a:off x="7022592" y="4480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Scheduled background integrity checks</a:t>
            </a:r>
            <a:endParaRPr lang="en-US" sz="1500" dirty="0"/>
          </a:p>
        </p:txBody>
      </p:sp>
      <p:sp>
        <p:nvSpPr>
          <p:cNvPr id="45" name="FaTimes circle"/>
          <p:cNvSpPr/>
          <p:nvPr/>
        </p:nvSpPr>
        <p:spPr>
          <a:xfrm>
            <a:off x="6519672" y="5010912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6" name="FaTimes" descr="Times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03614" y="5094854"/>
            <a:ext cx="143012" cy="143012"/>
          </a:xfrm>
          <a:prstGeom prst="rect">
            <a:avLst/>
          </a:prstGeom>
        </p:spPr>
      </p:pic>
      <p:sp>
        <p:nvSpPr>
          <p:cNvPr id="47" name="Out of scope item 6"/>
          <p:cNvSpPr txBox="1"/>
          <p:nvPr/>
        </p:nvSpPr>
        <p:spPr>
          <a:xfrm>
            <a:off x="7022592" y="4983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Certification for real casework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Who uses EviTrack</a:t>
            </a:r>
            <a:endParaRPr lang="en-US" sz="3400" dirty="0"/>
          </a:p>
        </p:txBody>
      </p:sp>
      <p:sp>
        <p:nvSpPr>
          <p:cNvPr id="3" name="Role card 1"/>
          <p:cNvSpPr/>
          <p:nvPr/>
        </p:nvSpPr>
        <p:spPr>
          <a:xfrm>
            <a:off x="548640" y="146304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4" name="FaUserTie circle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FaUserTie" descr="UserTi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934870"/>
            <a:ext cx="336499" cy="336499"/>
          </a:xfrm>
          <a:prstGeom prst="rect">
            <a:avLst/>
          </a:prstGeom>
        </p:spPr>
      </p:pic>
      <p:sp>
        <p:nvSpPr>
          <p:cNvPr id="6" name="Role label 1"/>
          <p:cNvSpPr txBox="1"/>
          <p:nvPr/>
        </p:nvSpPr>
        <p:spPr>
          <a:xfrm>
            <a:off x="1737360" y="1737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Investigator</a:t>
            </a:r>
            <a:endParaRPr lang="en-US" sz="2200" dirty="0"/>
          </a:p>
        </p:txBody>
      </p:sp>
      <p:sp>
        <p:nvSpPr>
          <p:cNvPr id="7" name="Role bullets 1"/>
          <p:cNvSpPr txBox="1"/>
          <p:nvPr/>
        </p:nvSpPr>
        <p:spPr>
          <a:xfrm>
            <a:off x="822960" y="283464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Creates and owns cases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Uploads, verifies and downloads evidence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Generates reports; sees only their own cases</a:t>
            </a:r>
            <a:endParaRPr lang="en-US" sz="1500" dirty="0"/>
          </a:p>
        </p:txBody>
      </p:sp>
      <p:sp>
        <p:nvSpPr>
          <p:cNvPr id="8" name="Role card 2"/>
          <p:cNvSpPr/>
          <p:nvPr/>
        </p:nvSpPr>
        <p:spPr>
          <a:xfrm>
            <a:off x="4329684" y="146304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9" name="FaUserShield circle"/>
          <p:cNvSpPr/>
          <p:nvPr/>
        </p:nvSpPr>
        <p:spPr>
          <a:xfrm>
            <a:off x="4604004" y="17373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FaUserShield" descr="UserShiel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514" y="1934870"/>
            <a:ext cx="336499" cy="336499"/>
          </a:xfrm>
          <a:prstGeom prst="rect">
            <a:avLst/>
          </a:prstGeom>
        </p:spPr>
      </p:pic>
      <p:sp>
        <p:nvSpPr>
          <p:cNvPr id="11" name="Role label 2"/>
          <p:cNvSpPr txBox="1"/>
          <p:nvPr/>
        </p:nvSpPr>
        <p:spPr>
          <a:xfrm>
            <a:off x="5518404" y="1737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Administrator</a:t>
            </a:r>
            <a:endParaRPr lang="en-US" sz="2200" dirty="0"/>
          </a:p>
        </p:txBody>
      </p:sp>
      <p:sp>
        <p:nvSpPr>
          <p:cNvPr id="12" name="Role bullets 2"/>
          <p:cNvSpPr txBox="1"/>
          <p:nvPr/>
        </p:nvSpPr>
        <p:spPr>
          <a:xfrm>
            <a:off x="4604004" y="283464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Created from the command line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Can see every case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Oversees investigators' work</a:t>
            </a:r>
            <a:endParaRPr lang="en-US" sz="1500" dirty="0"/>
          </a:p>
        </p:txBody>
      </p:sp>
      <p:sp>
        <p:nvSpPr>
          <p:cNvPr id="13" name="Role card 3"/>
          <p:cNvSpPr/>
          <p:nvPr/>
        </p:nvSpPr>
        <p:spPr>
          <a:xfrm>
            <a:off x="8110728" y="146304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4" name="FaFileAlt circle"/>
          <p:cNvSpPr/>
          <p:nvPr/>
        </p:nvSpPr>
        <p:spPr>
          <a:xfrm>
            <a:off x="8385048" y="17373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FaFileAlt" descr="FileAl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558" y="1934870"/>
            <a:ext cx="336499" cy="336499"/>
          </a:xfrm>
          <a:prstGeom prst="rect">
            <a:avLst/>
          </a:prstGeom>
        </p:spPr>
      </p:pic>
      <p:sp>
        <p:nvSpPr>
          <p:cNvPr id="16" name="Role label 3"/>
          <p:cNvSpPr txBox="1"/>
          <p:nvPr/>
        </p:nvSpPr>
        <p:spPr>
          <a:xfrm>
            <a:off x="9299448" y="1737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Report reader</a:t>
            </a:r>
            <a:endParaRPr lang="en-US" sz="2200" dirty="0"/>
          </a:p>
        </p:txBody>
      </p:sp>
      <p:sp>
        <p:nvSpPr>
          <p:cNvPr id="17" name="Role bullets 3"/>
          <p:cNvSpPr txBox="1"/>
          <p:nvPr/>
        </p:nvSpPr>
        <p:spPr>
          <a:xfrm>
            <a:off x="8385048" y="283464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Receives the printed or PDF report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Compares its latest log hash with the system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Has no account and no access</a:t>
            </a:r>
            <a:endParaRPr lang="en-US" sz="1500" dirty="0"/>
          </a:p>
        </p:txBody>
      </p:sp>
      <p:sp>
        <p:nvSpPr>
          <p:cNvPr id="18" name="Access rule note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Access rules are enforced on the server: another investigator's case or evidence returns a 404 page, not a 403.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Requirements the system must meet</a:t>
            </a:r>
            <a:endParaRPr lang="en-US" sz="3400" dirty="0"/>
          </a:p>
        </p:txBody>
      </p:sp>
      <p:sp>
        <p:nvSpPr>
          <p:cNvPr id="3" name="Functional panel"/>
          <p:cNvSpPr/>
          <p:nvPr/>
        </p:nvSpPr>
        <p:spPr>
          <a:xfrm>
            <a:off x="548640" y="1463040"/>
            <a:ext cx="630936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4" name="FaListUl circle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FaListUl" descr="ListUl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1839773"/>
            <a:ext cx="252374" cy="252374"/>
          </a:xfrm>
          <a:prstGeom prst="rect">
            <a:avLst/>
          </a:prstGeom>
        </p:spPr>
      </p:pic>
      <p:sp>
        <p:nvSpPr>
          <p:cNvPr id="6" name="Functional heading"/>
          <p:cNvSpPr txBox="1"/>
          <p:nvPr/>
        </p:nvSpPr>
        <p:spPr>
          <a:xfrm>
            <a:off x="1554480" y="1691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Functional</a:t>
            </a:r>
            <a:endParaRPr lang="en-US" sz="2000" dirty="0"/>
          </a:p>
        </p:txBody>
      </p:sp>
      <p:sp>
        <p:nvSpPr>
          <p:cNvPr id="7" name="Functional list"/>
          <p:cNvSpPr txBox="1"/>
          <p:nvPr/>
        </p:nvSpPr>
        <p:spPr>
          <a:xfrm>
            <a:off x="822960" y="2514600"/>
            <a:ext cx="5760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FR1 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Accounts with hashed passwords and two roles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FR2 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Create, edit, close and reopen cases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FR3 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Upload evidence; reject bad types, empty and oversized files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FR4 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Hash every file with SHA-256 at upload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FR5 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Log upload, view, download and verification automatically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FR6 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Verify integrity on demand; block altered downloads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FR7 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Detect tampering with the custody log itself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FR8 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Generate a printable case report</a:t>
            </a:r>
            <a:endParaRPr lang="en-US" sz="1500" dirty="0"/>
          </a:p>
        </p:txBody>
      </p:sp>
      <p:sp>
        <p:nvSpPr>
          <p:cNvPr id="8" name="Non-functional panel"/>
          <p:cNvSpPr/>
          <p:nvPr/>
        </p:nvSpPr>
        <p:spPr>
          <a:xfrm>
            <a:off x="7040880" y="1463040"/>
            <a:ext cx="4599432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9" name="FaShieldAlt circle"/>
          <p:cNvSpPr/>
          <p:nvPr/>
        </p:nvSpPr>
        <p:spPr>
          <a:xfrm>
            <a:off x="7315200" y="16916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FaShieldAlt" descr="ShieldAl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333" y="1839773"/>
            <a:ext cx="252374" cy="252374"/>
          </a:xfrm>
          <a:prstGeom prst="rect">
            <a:avLst/>
          </a:prstGeom>
        </p:spPr>
      </p:pic>
      <p:sp>
        <p:nvSpPr>
          <p:cNvPr id="11" name="Non-functional heading"/>
          <p:cNvSpPr txBox="1"/>
          <p:nvPr/>
        </p:nvSpPr>
        <p:spPr>
          <a:xfrm>
            <a:off x="8046720" y="1691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Non-functional</a:t>
            </a:r>
            <a:endParaRPr lang="en-US" sz="2000" dirty="0"/>
          </a:p>
        </p:txBody>
      </p:sp>
      <p:sp>
        <p:nvSpPr>
          <p:cNvPr id="12" name="Non-functional list"/>
          <p:cNvSpPr txBox="1"/>
          <p:nvPr/>
        </p:nvSpPr>
        <p:spPr>
          <a:xfrm>
            <a:off x="7315200" y="2514600"/>
            <a:ext cx="4069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NFR1 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Security: common web threats handled and documented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NFR2 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Integrity: log entries cannot be edited in the app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NFR3 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Testability: automated tests, 90%+ coverage target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NFR4 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Usability: clear PASS or FAIL and chain status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NFR5 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Deployability: free host, HTTPS, secrets kept out of code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 small Flask app with a protected data layer</a:t>
            </a:r>
            <a:endParaRPr lang="en-US" sz="3400" dirty="0"/>
          </a:p>
        </p:txBody>
      </p:sp>
      <p:sp>
        <p:nvSpPr>
          <p:cNvPr id="3" name="Browser box"/>
          <p:cNvSpPr/>
          <p:nvPr/>
        </p:nvSpPr>
        <p:spPr>
          <a:xfrm>
            <a:off x="548640" y="2194560"/>
            <a:ext cx="210312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4" name="FaDesktop circle"/>
          <p:cNvSpPr/>
          <p:nvPr/>
        </p:nvSpPr>
        <p:spPr>
          <a:xfrm>
            <a:off x="1143000" y="242316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5" name="FaDesktop" descr="Deskto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5199" y="2645359"/>
            <a:ext cx="378562" cy="378562"/>
          </a:xfrm>
          <a:prstGeom prst="rect">
            <a:avLst/>
          </a:prstGeom>
        </p:spPr>
      </p:pic>
      <p:sp>
        <p:nvSpPr>
          <p:cNvPr id="6" name="Browser label"/>
          <p:cNvSpPr txBox="1"/>
          <p:nvPr/>
        </p:nvSpPr>
        <p:spPr>
          <a:xfrm>
            <a:off x="54864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Browser</a:t>
            </a:r>
            <a:endParaRPr lang="en-US" sz="1800" dirty="0"/>
          </a:p>
        </p:txBody>
      </p:sp>
      <p:sp>
        <p:nvSpPr>
          <p:cNvPr id="7" name="Browser sub"/>
          <p:cNvSpPr txBox="1"/>
          <p:nvPr/>
        </p:nvSpPr>
        <p:spPr>
          <a:xfrm>
            <a:off x="68580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D8E3"/>
                </a:solidFill>
              </a:rPr>
              <a:t>Investigator or administrator</a:t>
            </a:r>
            <a:endParaRPr lang="en-US" sz="1200" dirty="0"/>
          </a:p>
        </p:txBody>
      </p:sp>
      <p:sp>
        <p:nvSpPr>
          <p:cNvPr id="8" name="Browser to app arrow"/>
          <p:cNvSpPr/>
          <p:nvPr/>
        </p:nvSpPr>
        <p:spPr>
          <a:xfrm>
            <a:off x="2651760" y="3246120"/>
            <a:ext cx="73152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HTTPS label"/>
          <p:cNvSpPr txBox="1"/>
          <p:nvPr/>
        </p:nvSpPr>
        <p:spPr>
          <a:xfrm>
            <a:off x="2651760" y="2880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HTTPS</a:t>
            </a:r>
            <a:endParaRPr lang="en-US" sz="1200" dirty="0"/>
          </a:p>
        </p:txBody>
      </p:sp>
      <p:sp>
        <p:nvSpPr>
          <p:cNvPr id="10" name="Browser note"/>
          <p:cNvSpPr txBox="1"/>
          <p:nvPr/>
        </p:nvSpPr>
        <p:spPr>
          <a:xfrm>
            <a:off x="548640" y="4572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Session cookie: HttpOnly and SameSite. CSRF token on every POST.</a:t>
            </a:r>
            <a:endParaRPr lang="en-US" sz="1300" dirty="0"/>
          </a:p>
        </p:txBody>
      </p:sp>
      <p:sp>
        <p:nvSpPr>
          <p:cNvPr id="11" name="Flask container"/>
          <p:cNvSpPr/>
          <p:nvPr/>
        </p:nvSpPr>
        <p:spPr>
          <a:xfrm>
            <a:off x="3383280" y="1463040"/>
            <a:ext cx="5212080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Flask label"/>
          <p:cNvSpPr txBox="1"/>
          <p:nvPr/>
        </p:nvSpPr>
        <p:spPr>
          <a:xfrm>
            <a:off x="361188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Flask application</a:t>
            </a:r>
            <a:endParaRPr lang="en-US" sz="1800" dirty="0"/>
          </a:p>
        </p:txBody>
      </p:sp>
      <p:sp>
        <p:nvSpPr>
          <p:cNvPr id="13" name="Routes label"/>
          <p:cNvSpPr txBox="1"/>
          <p:nvPr/>
        </p:nvSpPr>
        <p:spPr>
          <a:xfrm>
            <a:off x="3611880" y="20574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Routes (blueprints)</a:t>
            </a:r>
            <a:endParaRPr lang="en-US" sz="1200" dirty="0"/>
          </a:p>
        </p:txBody>
      </p:sp>
      <p:sp>
        <p:nvSpPr>
          <p:cNvPr id="14" name="Blueprint auth"/>
          <p:cNvSpPr/>
          <p:nvPr/>
        </p:nvSpPr>
        <p:spPr>
          <a:xfrm>
            <a:off x="3611880" y="2359152"/>
            <a:ext cx="1508760" cy="6858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5" name="Blueprint label auth"/>
          <p:cNvSpPr txBox="1"/>
          <p:nvPr/>
        </p:nvSpPr>
        <p:spPr>
          <a:xfrm>
            <a:off x="3611880" y="235915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auth</a:t>
            </a:r>
            <a:endParaRPr lang="en-US" sz="1500" dirty="0"/>
          </a:p>
        </p:txBody>
      </p:sp>
      <p:sp>
        <p:nvSpPr>
          <p:cNvPr id="16" name="Blueprint cases"/>
          <p:cNvSpPr/>
          <p:nvPr/>
        </p:nvSpPr>
        <p:spPr>
          <a:xfrm>
            <a:off x="5212080" y="2359152"/>
            <a:ext cx="1508760" cy="6858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7" name="Blueprint label cases"/>
          <p:cNvSpPr txBox="1"/>
          <p:nvPr/>
        </p:nvSpPr>
        <p:spPr>
          <a:xfrm>
            <a:off x="5212080" y="235915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cases</a:t>
            </a:r>
            <a:endParaRPr lang="en-US" sz="1500" dirty="0"/>
          </a:p>
        </p:txBody>
      </p:sp>
      <p:sp>
        <p:nvSpPr>
          <p:cNvPr id="18" name="Blueprint evidence"/>
          <p:cNvSpPr/>
          <p:nvPr/>
        </p:nvSpPr>
        <p:spPr>
          <a:xfrm>
            <a:off x="6812280" y="2359152"/>
            <a:ext cx="1508760" cy="6858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9" name="Blueprint label evidence"/>
          <p:cNvSpPr txBox="1"/>
          <p:nvPr/>
        </p:nvSpPr>
        <p:spPr>
          <a:xfrm>
            <a:off x="6812280" y="235915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evidence</a:t>
            </a:r>
            <a:endParaRPr lang="en-US" sz="1500" dirty="0"/>
          </a:p>
        </p:txBody>
      </p:sp>
      <p:sp>
        <p:nvSpPr>
          <p:cNvPr id="20" name="Modules label"/>
          <p:cNvSpPr txBox="1"/>
          <p:nvPr/>
        </p:nvSpPr>
        <p:spPr>
          <a:xfrm>
            <a:off x="3611880" y="32004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Core modules</a:t>
            </a:r>
            <a:endParaRPr lang="en-US" sz="1200" dirty="0"/>
          </a:p>
        </p:txBody>
      </p:sp>
      <p:sp>
        <p:nvSpPr>
          <p:cNvPr id="21" name="Module custody log"/>
          <p:cNvSpPr/>
          <p:nvPr/>
        </p:nvSpPr>
        <p:spPr>
          <a:xfrm>
            <a:off x="3611880" y="3502152"/>
            <a:ext cx="15087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22" name="Module label custody log"/>
          <p:cNvSpPr txBox="1"/>
          <p:nvPr/>
        </p:nvSpPr>
        <p:spPr>
          <a:xfrm>
            <a:off x="3611880" y="359359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custody log</a:t>
            </a:r>
            <a:endParaRPr lang="en-US" sz="1500" dirty="0"/>
          </a:p>
        </p:txBody>
      </p:sp>
      <p:sp>
        <p:nvSpPr>
          <p:cNvPr id="23" name="Module sub custody log"/>
          <p:cNvSpPr txBox="1"/>
          <p:nvPr/>
        </p:nvSpPr>
        <p:spPr>
          <a:xfrm>
            <a:off x="3611880" y="39593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D8E3"/>
                </a:solidFill>
              </a:rPr>
              <a:t>hash chain</a:t>
            </a:r>
            <a:endParaRPr lang="en-US" sz="1200" dirty="0"/>
          </a:p>
        </p:txBody>
      </p:sp>
      <p:sp>
        <p:nvSpPr>
          <p:cNvPr id="24" name="Module lockout"/>
          <p:cNvSpPr/>
          <p:nvPr/>
        </p:nvSpPr>
        <p:spPr>
          <a:xfrm>
            <a:off x="5257800" y="3502152"/>
            <a:ext cx="15087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25" name="Module label lockout"/>
          <p:cNvSpPr txBox="1"/>
          <p:nvPr/>
        </p:nvSpPr>
        <p:spPr>
          <a:xfrm>
            <a:off x="5257800" y="359359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lockout</a:t>
            </a:r>
            <a:endParaRPr lang="en-US" sz="1500" dirty="0"/>
          </a:p>
        </p:txBody>
      </p:sp>
      <p:sp>
        <p:nvSpPr>
          <p:cNvPr id="26" name="Module sub lockout"/>
          <p:cNvSpPr txBox="1"/>
          <p:nvPr/>
        </p:nvSpPr>
        <p:spPr>
          <a:xfrm>
            <a:off x="5257800" y="39593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D8E3"/>
                </a:solidFill>
              </a:rPr>
              <a:t>failed logins</a:t>
            </a:r>
            <a:endParaRPr lang="en-US" sz="1200" dirty="0"/>
          </a:p>
        </p:txBody>
      </p:sp>
      <p:sp>
        <p:nvSpPr>
          <p:cNvPr id="27" name="Module headers"/>
          <p:cNvSpPr/>
          <p:nvPr/>
        </p:nvSpPr>
        <p:spPr>
          <a:xfrm>
            <a:off x="6903720" y="3502152"/>
            <a:ext cx="15087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28" name="Module label headers"/>
          <p:cNvSpPr txBox="1"/>
          <p:nvPr/>
        </p:nvSpPr>
        <p:spPr>
          <a:xfrm>
            <a:off x="6903720" y="359359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headers</a:t>
            </a:r>
            <a:endParaRPr lang="en-US" sz="1500" dirty="0"/>
          </a:p>
        </p:txBody>
      </p:sp>
      <p:sp>
        <p:nvSpPr>
          <p:cNvPr id="29" name="Module sub headers"/>
          <p:cNvSpPr txBox="1"/>
          <p:nvPr/>
        </p:nvSpPr>
        <p:spPr>
          <a:xfrm>
            <a:off x="6903720" y="39593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D8E3"/>
                </a:solidFill>
              </a:rPr>
              <a:t>CSP and more</a:t>
            </a:r>
            <a:endParaRPr lang="en-US" sz="1200" dirty="0"/>
          </a:p>
        </p:txBody>
      </p:sp>
      <p:sp>
        <p:nvSpPr>
          <p:cNvPr id="30" name="Templates box"/>
          <p:cNvSpPr/>
          <p:nvPr/>
        </p:nvSpPr>
        <p:spPr>
          <a:xfrm>
            <a:off x="3611880" y="4617720"/>
            <a:ext cx="475488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Templates label"/>
          <p:cNvSpPr txBox="1"/>
          <p:nvPr/>
        </p:nvSpPr>
        <p:spPr>
          <a:xfrm>
            <a:off x="3611880" y="4754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Jinja templates and static CSS</a:t>
            </a:r>
            <a:endParaRPr lang="en-US" sz="1500" dirty="0"/>
          </a:p>
        </p:txBody>
      </p:sp>
      <p:sp>
        <p:nvSpPr>
          <p:cNvPr id="32" name="Templates sub"/>
          <p:cNvSpPr txBox="1"/>
          <p:nvPr/>
        </p:nvSpPr>
        <p:spPr>
          <a:xfrm>
            <a:off x="3611880" y="5166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Output autoescaped; no inline scripts or styles</a:t>
            </a:r>
            <a:endParaRPr lang="en-US" sz="1200" dirty="0"/>
          </a:p>
        </p:txBody>
      </p:sp>
      <p:sp>
        <p:nvSpPr>
          <p:cNvPr id="33" name="App to database arrow"/>
          <p:cNvSpPr/>
          <p:nvPr/>
        </p:nvSpPr>
        <p:spPr>
          <a:xfrm>
            <a:off x="8595360" y="2743200"/>
            <a:ext cx="64008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4" name="App to store arrow"/>
          <p:cNvSpPr/>
          <p:nvPr/>
        </p:nvSpPr>
        <p:spPr>
          <a:xfrm>
            <a:off x="8595360" y="5120640"/>
            <a:ext cx="64008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5" name="Database box"/>
          <p:cNvSpPr/>
          <p:nvPr/>
        </p:nvSpPr>
        <p:spPr>
          <a:xfrm>
            <a:off x="9235440" y="1463040"/>
            <a:ext cx="2404872" cy="2743200"/>
          </a:xfrm>
          <a:prstGeom prst="roundRect">
            <a:avLst>
              <a:gd name="adj" fmla="val 4563"/>
            </a:avLst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36" name="FaDatabase circle"/>
          <p:cNvSpPr/>
          <p:nvPr/>
        </p:nvSpPr>
        <p:spPr>
          <a:xfrm>
            <a:off x="9464040" y="16459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7" name="FaDatabase" descr="Databas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9828" y="1781708"/>
            <a:ext cx="231343" cy="231343"/>
          </a:xfrm>
          <a:prstGeom prst="rect">
            <a:avLst/>
          </a:prstGeom>
        </p:spPr>
      </p:pic>
      <p:sp>
        <p:nvSpPr>
          <p:cNvPr id="38" name="Database label"/>
          <p:cNvSpPr txBox="1"/>
          <p:nvPr/>
        </p:nvSpPr>
        <p:spPr>
          <a:xfrm>
            <a:off x="10104120" y="1645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SQLite</a:t>
            </a:r>
            <a:endParaRPr lang="en-US" sz="1700" dirty="0"/>
          </a:p>
        </p:txBody>
      </p:sp>
      <p:sp>
        <p:nvSpPr>
          <p:cNvPr id="39" name="Table list"/>
          <p:cNvSpPr txBox="1"/>
          <p:nvPr/>
        </p:nvSpPr>
        <p:spPr>
          <a:xfrm>
            <a:off x="9464040" y="233172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custody_log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login_attempts</a:t>
            </a:r>
            <a:endParaRPr lang="en-US" sz="1200" dirty="0"/>
          </a:p>
        </p:txBody>
      </p:sp>
      <p:sp>
        <p:nvSpPr>
          <p:cNvPr id="40" name="Append-only note"/>
          <p:cNvSpPr txBox="1"/>
          <p:nvPr/>
        </p:nvSpPr>
        <p:spPr>
          <a:xfrm>
            <a:off x="9464040" y="3703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custody_log is append-only</a:t>
            </a:r>
            <a:endParaRPr lang="en-US" sz="1200" dirty="0"/>
          </a:p>
        </p:txBody>
      </p:sp>
      <p:sp>
        <p:nvSpPr>
          <p:cNvPr id="41" name="Evidence store box"/>
          <p:cNvSpPr/>
          <p:nvPr/>
        </p:nvSpPr>
        <p:spPr>
          <a:xfrm>
            <a:off x="9235440" y="4434840"/>
            <a:ext cx="2404872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42" name="FaFolderOpen circle"/>
          <p:cNvSpPr/>
          <p:nvPr/>
        </p:nvSpPr>
        <p:spPr>
          <a:xfrm>
            <a:off x="9464040" y="457200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3" name="FaFolderOpen" descr="FolderOpe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7484" y="4695444"/>
            <a:ext cx="210312" cy="210312"/>
          </a:xfrm>
          <a:prstGeom prst="rect">
            <a:avLst/>
          </a:prstGeom>
        </p:spPr>
      </p:pic>
      <p:sp>
        <p:nvSpPr>
          <p:cNvPr id="44" name="Store label"/>
          <p:cNvSpPr txBox="1"/>
          <p:nvPr/>
        </p:nvSpPr>
        <p:spPr>
          <a:xfrm>
            <a:off x="10058400" y="4572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Evidence store</a:t>
            </a:r>
            <a:endParaRPr lang="en-US" sz="1500" dirty="0"/>
          </a:p>
        </p:txBody>
      </p:sp>
      <p:sp>
        <p:nvSpPr>
          <p:cNvPr id="45" name="Store sub"/>
          <p:cNvSpPr txBox="1"/>
          <p:nvPr/>
        </p:nvSpPr>
        <p:spPr>
          <a:xfrm>
            <a:off x="9464040" y="51663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Random file names, outside the static folder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Each log entry seals the one before it</a:t>
            </a:r>
            <a:endParaRPr lang="en-US" sz="3400" dirty="0"/>
          </a:p>
        </p:txBody>
      </p:sp>
      <p:sp>
        <p:nvSpPr>
          <p:cNvPr id="3" name="Entry block 1"/>
          <p:cNvSpPr/>
          <p:nvPr/>
        </p:nvSpPr>
        <p:spPr>
          <a:xfrm>
            <a:off x="548640" y="1463040"/>
            <a:ext cx="338328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4" name="Entry title 1"/>
          <p:cNvSpPr txBox="1"/>
          <p:nvPr/>
        </p:nvSpPr>
        <p:spPr>
          <a:xfrm>
            <a:off x="82296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#4  UPLOADED</a:t>
            </a:r>
            <a:endParaRPr lang="en-US" sz="1800" dirty="0"/>
          </a:p>
        </p:txBody>
      </p:sp>
      <p:sp>
        <p:nvSpPr>
          <p:cNvPr id="5" name="Entry fields 1"/>
          <p:cNvSpPr txBox="1"/>
          <p:nvPr/>
        </p:nvSpPr>
        <p:spPr>
          <a:xfrm>
            <a:off x="822960" y="2103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who, what, when, notes</a:t>
            </a:r>
            <a:endParaRPr lang="en-US" sz="1200" dirty="0"/>
          </a:p>
        </p:txBody>
      </p:sp>
      <p:sp>
        <p:nvSpPr>
          <p:cNvPr id="6" name="Prev hash chip 1"/>
          <p:cNvSpPr/>
          <p:nvPr/>
        </p:nvSpPr>
        <p:spPr>
          <a:xfrm>
            <a:off x="777240" y="2514600"/>
            <a:ext cx="292608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7" name="Prev hash 1"/>
          <p:cNvSpPr txBox="1"/>
          <p:nvPr/>
        </p:nvSpPr>
        <p:spPr>
          <a:xfrm>
            <a:off x="86868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  hash of #3</a:t>
            </a:r>
            <a:endParaRPr lang="en-US" sz="1200" dirty="0"/>
          </a:p>
        </p:txBody>
      </p:sp>
      <p:sp>
        <p:nvSpPr>
          <p:cNvPr id="8" name="Entry hash chip 1"/>
          <p:cNvSpPr/>
          <p:nvPr/>
        </p:nvSpPr>
        <p:spPr>
          <a:xfrm>
            <a:off x="777240" y="3035808"/>
            <a:ext cx="292608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</p:sp>
      <p:sp>
        <p:nvSpPr>
          <p:cNvPr id="9" name="Entry hash 1"/>
          <p:cNvSpPr txBox="1"/>
          <p:nvPr/>
        </p:nvSpPr>
        <p:spPr>
          <a:xfrm>
            <a:off x="868680" y="3035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 c281d72f18b49674...</a:t>
            </a:r>
            <a:endParaRPr lang="en-US" sz="1200" dirty="0"/>
          </a:p>
        </p:txBody>
      </p:sp>
      <p:sp>
        <p:nvSpPr>
          <p:cNvPr id="10" name="Chain arrow 1"/>
          <p:cNvSpPr/>
          <p:nvPr/>
        </p:nvSpPr>
        <p:spPr>
          <a:xfrm>
            <a:off x="3931920" y="3264408"/>
            <a:ext cx="45720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Entry block 2"/>
          <p:cNvSpPr/>
          <p:nvPr/>
        </p:nvSpPr>
        <p:spPr>
          <a:xfrm>
            <a:off x="4389120" y="1463040"/>
            <a:ext cx="338328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12" name="Entry title 2"/>
          <p:cNvSpPr txBox="1"/>
          <p:nvPr/>
        </p:nvSpPr>
        <p:spPr>
          <a:xfrm>
            <a:off x="466344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#5  VIEWED</a:t>
            </a:r>
            <a:endParaRPr lang="en-US" sz="1800" dirty="0"/>
          </a:p>
        </p:txBody>
      </p:sp>
      <p:sp>
        <p:nvSpPr>
          <p:cNvPr id="13" name="Entry fields 2"/>
          <p:cNvSpPr txBox="1"/>
          <p:nvPr/>
        </p:nvSpPr>
        <p:spPr>
          <a:xfrm>
            <a:off x="4663440" y="2103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who, what, when, notes</a:t>
            </a:r>
            <a:endParaRPr lang="en-US" sz="1200" dirty="0"/>
          </a:p>
        </p:txBody>
      </p:sp>
      <p:sp>
        <p:nvSpPr>
          <p:cNvPr id="14" name="Prev hash chip 2"/>
          <p:cNvSpPr/>
          <p:nvPr/>
        </p:nvSpPr>
        <p:spPr>
          <a:xfrm>
            <a:off x="4617720" y="2514600"/>
            <a:ext cx="292608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15" name="Prev hash 2"/>
          <p:cNvSpPr txBox="1"/>
          <p:nvPr/>
        </p:nvSpPr>
        <p:spPr>
          <a:xfrm>
            <a:off x="470916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  c281d72f18b49674...</a:t>
            </a:r>
            <a:endParaRPr lang="en-US" sz="1200" dirty="0"/>
          </a:p>
        </p:txBody>
      </p:sp>
      <p:sp>
        <p:nvSpPr>
          <p:cNvPr id="16" name="Entry hash chip 2"/>
          <p:cNvSpPr/>
          <p:nvPr/>
        </p:nvSpPr>
        <p:spPr>
          <a:xfrm>
            <a:off x="4617720" y="3035808"/>
            <a:ext cx="292608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</p:sp>
      <p:sp>
        <p:nvSpPr>
          <p:cNvPr id="17" name="Entry hash 2"/>
          <p:cNvSpPr txBox="1"/>
          <p:nvPr/>
        </p:nvSpPr>
        <p:spPr>
          <a:xfrm>
            <a:off x="4709160" y="3035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 93b72d0e9dadaf12...</a:t>
            </a:r>
            <a:endParaRPr lang="en-US" sz="1200" dirty="0"/>
          </a:p>
        </p:txBody>
      </p:sp>
      <p:sp>
        <p:nvSpPr>
          <p:cNvPr id="18" name="Chain arrow 2"/>
          <p:cNvSpPr/>
          <p:nvPr/>
        </p:nvSpPr>
        <p:spPr>
          <a:xfrm>
            <a:off x="7772400" y="3264408"/>
            <a:ext cx="45720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Entry block 3"/>
          <p:cNvSpPr/>
          <p:nvPr/>
        </p:nvSpPr>
        <p:spPr>
          <a:xfrm>
            <a:off x="8229600" y="1463040"/>
            <a:ext cx="338328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20" name="Entry title 3"/>
          <p:cNvSpPr txBox="1"/>
          <p:nvPr/>
        </p:nvSpPr>
        <p:spPr>
          <a:xfrm>
            <a:off x="850392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#6  DOWNLOADED</a:t>
            </a:r>
            <a:endParaRPr lang="en-US" sz="1800" dirty="0"/>
          </a:p>
        </p:txBody>
      </p:sp>
      <p:sp>
        <p:nvSpPr>
          <p:cNvPr id="21" name="Entry fields 3"/>
          <p:cNvSpPr txBox="1"/>
          <p:nvPr/>
        </p:nvSpPr>
        <p:spPr>
          <a:xfrm>
            <a:off x="8503920" y="2103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who, what, when, notes</a:t>
            </a:r>
            <a:endParaRPr lang="en-US" sz="1200" dirty="0"/>
          </a:p>
        </p:txBody>
      </p:sp>
      <p:sp>
        <p:nvSpPr>
          <p:cNvPr id="22" name="Prev hash chip 3"/>
          <p:cNvSpPr/>
          <p:nvPr/>
        </p:nvSpPr>
        <p:spPr>
          <a:xfrm>
            <a:off x="8458200" y="2514600"/>
            <a:ext cx="292608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23" name="Prev hash 3"/>
          <p:cNvSpPr txBox="1"/>
          <p:nvPr/>
        </p:nvSpPr>
        <p:spPr>
          <a:xfrm>
            <a:off x="854964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  93b72d0e9dadaf12...</a:t>
            </a:r>
            <a:endParaRPr lang="en-US" sz="1200" dirty="0"/>
          </a:p>
        </p:txBody>
      </p:sp>
      <p:sp>
        <p:nvSpPr>
          <p:cNvPr id="24" name="Entry hash chip 3"/>
          <p:cNvSpPr/>
          <p:nvPr/>
        </p:nvSpPr>
        <p:spPr>
          <a:xfrm>
            <a:off x="8458200" y="3035808"/>
            <a:ext cx="292608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</p:sp>
      <p:sp>
        <p:nvSpPr>
          <p:cNvPr id="25" name="Entry hash 3"/>
          <p:cNvSpPr txBox="1"/>
          <p:nvPr/>
        </p:nvSpPr>
        <p:spPr>
          <a:xfrm>
            <a:off x="8549640" y="3035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 208b6cdb5ae6bf6d...</a:t>
            </a:r>
            <a:endParaRPr lang="en-US" sz="1200" dirty="0"/>
          </a:p>
        </p:txBody>
      </p:sp>
      <p:sp>
        <p:nvSpPr>
          <p:cNvPr id="26" name="Chain caption"/>
          <p:cNvSpPr txBox="1"/>
          <p:nvPr/>
        </p:nvSpPr>
        <p:spPr>
          <a:xfrm>
            <a:off x="548640" y="3749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Entries 4 to 6 from the running system (hashes shortened). An entry's hash covers every field plus the previous hash.</a:t>
            </a:r>
            <a:endParaRPr lang="en-US" sz="1300" dirty="0"/>
          </a:p>
        </p:txBody>
      </p:sp>
      <p:sp>
        <p:nvSpPr>
          <p:cNvPr id="27" name="Control card 1"/>
          <p:cNvSpPr/>
          <p:nvPr/>
        </p:nvSpPr>
        <p:spPr>
          <a:xfrm>
            <a:off x="548640" y="4297680"/>
            <a:ext cx="3520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28" name="FaLock circle"/>
          <p:cNvSpPr/>
          <p:nvPr/>
        </p:nvSpPr>
        <p:spPr>
          <a:xfrm>
            <a:off x="777240" y="452628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9" name="FaLock" descr="Lo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028" y="4662068"/>
            <a:ext cx="231343" cy="231343"/>
          </a:xfrm>
          <a:prstGeom prst="rect">
            <a:avLst/>
          </a:prstGeom>
        </p:spPr>
      </p:pic>
      <p:sp>
        <p:nvSpPr>
          <p:cNvPr id="30" name="Control label 1"/>
          <p:cNvSpPr txBox="1"/>
          <p:nvPr/>
        </p:nvSpPr>
        <p:spPr>
          <a:xfrm>
            <a:off x="1417320" y="4526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Append-only</a:t>
            </a:r>
            <a:endParaRPr lang="en-US" sz="1700" dirty="0"/>
          </a:p>
        </p:txBody>
      </p:sp>
      <p:sp>
        <p:nvSpPr>
          <p:cNvPr id="31" name="Control text 1"/>
          <p:cNvSpPr txBox="1"/>
          <p:nvPr/>
        </p:nvSpPr>
        <p:spPr>
          <a:xfrm>
            <a:off x="777240" y="5166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Database triggers abort any UPDATE or DELETE on the custody log.</a:t>
            </a:r>
            <a:endParaRPr lang="en-US" sz="1300" dirty="0"/>
          </a:p>
        </p:txBody>
      </p:sp>
      <p:sp>
        <p:nvSpPr>
          <p:cNvPr id="32" name="Control card 2"/>
          <p:cNvSpPr/>
          <p:nvPr/>
        </p:nvSpPr>
        <p:spPr>
          <a:xfrm>
            <a:off x="4329684" y="4297680"/>
            <a:ext cx="3520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33" name="FaLink circle"/>
          <p:cNvSpPr/>
          <p:nvPr/>
        </p:nvSpPr>
        <p:spPr>
          <a:xfrm>
            <a:off x="4558284" y="452628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4" name="FaLink" descr="Lin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072" y="4662068"/>
            <a:ext cx="231343" cy="231343"/>
          </a:xfrm>
          <a:prstGeom prst="rect">
            <a:avLst/>
          </a:prstGeom>
        </p:spPr>
      </p:pic>
      <p:sp>
        <p:nvSpPr>
          <p:cNvPr id="35" name="Control label 2"/>
          <p:cNvSpPr txBox="1"/>
          <p:nvPr/>
        </p:nvSpPr>
        <p:spPr>
          <a:xfrm>
            <a:off x="5198364" y="4526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Chain verification</a:t>
            </a:r>
            <a:endParaRPr lang="en-US" sz="1700" dirty="0"/>
          </a:p>
        </p:txBody>
      </p:sp>
      <p:sp>
        <p:nvSpPr>
          <p:cNvPr id="36" name="Control text 2"/>
          <p:cNvSpPr txBox="1"/>
          <p:nvPr/>
        </p:nvSpPr>
        <p:spPr>
          <a:xfrm>
            <a:off x="4558284" y="5166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verify_chain() recomputes every link. An edited or missing middle entry shows CHAIN BROKEN.</a:t>
            </a:r>
            <a:endParaRPr lang="en-US" sz="1300" dirty="0"/>
          </a:p>
        </p:txBody>
      </p:sp>
      <p:sp>
        <p:nvSpPr>
          <p:cNvPr id="37" name="Control card 3"/>
          <p:cNvSpPr/>
          <p:nvPr/>
        </p:nvSpPr>
        <p:spPr>
          <a:xfrm>
            <a:off x="8110728" y="4297680"/>
            <a:ext cx="3520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38" name="FaPrint circle"/>
          <p:cNvSpPr/>
          <p:nvPr/>
        </p:nvSpPr>
        <p:spPr>
          <a:xfrm>
            <a:off x="8339328" y="452628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9" name="FaPrint" descr="Prin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116" y="4662068"/>
            <a:ext cx="231343" cy="231343"/>
          </a:xfrm>
          <a:prstGeom prst="rect">
            <a:avLst/>
          </a:prstGeom>
        </p:spPr>
      </p:pic>
      <p:sp>
        <p:nvSpPr>
          <p:cNvPr id="40" name="Control label 3"/>
          <p:cNvSpPr txBox="1"/>
          <p:nvPr/>
        </p:nvSpPr>
        <p:spPr>
          <a:xfrm>
            <a:off x="8979408" y="4526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Offline anchor</a:t>
            </a:r>
            <a:endParaRPr lang="en-US" sz="1700" dirty="0"/>
          </a:p>
        </p:txBody>
      </p:sp>
      <p:sp>
        <p:nvSpPr>
          <p:cNvPr id="41" name="Control text 3"/>
          <p:cNvSpPr txBox="1"/>
          <p:nvPr/>
        </p:nvSpPr>
        <p:spPr>
          <a:xfrm>
            <a:off x="8339328" y="5166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latest entry hash is printed on every report, so removed newest entries can be exposed.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Five tables hold the whole system</a:t>
            </a:r>
            <a:endParaRPr lang="en-US" sz="3400" dirty="0"/>
          </a:p>
        </p:txBody>
      </p:sp>
      <p:sp>
        <p:nvSpPr>
          <p:cNvPr id="3" name="Table box users"/>
          <p:cNvSpPr/>
          <p:nvPr/>
        </p:nvSpPr>
        <p:spPr>
          <a:xfrm>
            <a:off x="548640" y="1463040"/>
            <a:ext cx="2286000" cy="19385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4" name="Table header users"/>
          <p:cNvSpPr/>
          <p:nvPr/>
        </p:nvSpPr>
        <p:spPr>
          <a:xfrm>
            <a:off x="548640" y="1463040"/>
            <a:ext cx="2286000" cy="457200"/>
          </a:xfrm>
          <a:prstGeom prst="rect">
            <a:avLst/>
          </a:prstGeom>
          <a:solidFill>
            <a:schemeClr val="tx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5" name="Table name users"/>
          <p:cNvSpPr txBox="1"/>
          <p:nvPr/>
        </p:nvSpPr>
        <p:spPr>
          <a:xfrm>
            <a:off x="54864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users</a:t>
            </a:r>
            <a:endParaRPr lang="en-US" sz="1500" dirty="0"/>
          </a:p>
        </p:txBody>
      </p:sp>
      <p:sp>
        <p:nvSpPr>
          <p:cNvPr id="6" name="Table fields users"/>
          <p:cNvSpPr txBox="1"/>
          <p:nvPr/>
        </p:nvSpPr>
        <p:spPr>
          <a:xfrm>
            <a:off x="685800" y="2029968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 (unique)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password_hash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200" dirty="0"/>
          </a:p>
        </p:txBody>
      </p:sp>
      <p:sp>
        <p:nvSpPr>
          <p:cNvPr id="7" name="Table box cases"/>
          <p:cNvSpPr/>
          <p:nvPr/>
        </p:nvSpPr>
        <p:spPr>
          <a:xfrm>
            <a:off x="3246120" y="1463040"/>
            <a:ext cx="2560320" cy="221284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8" name="Table header cases"/>
          <p:cNvSpPr/>
          <p:nvPr/>
        </p:nvSpPr>
        <p:spPr>
          <a:xfrm>
            <a:off x="3246120" y="1463040"/>
            <a:ext cx="2560320" cy="457200"/>
          </a:xfrm>
          <a:prstGeom prst="rect">
            <a:avLst/>
          </a:prstGeom>
          <a:solidFill>
            <a:schemeClr val="tx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9" name="Table name cases"/>
          <p:cNvSpPr txBox="1"/>
          <p:nvPr/>
        </p:nvSpPr>
        <p:spPr>
          <a:xfrm>
            <a:off x="324612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cases</a:t>
            </a:r>
            <a:endParaRPr lang="en-US" sz="1500" dirty="0"/>
          </a:p>
        </p:txBody>
      </p:sp>
      <p:sp>
        <p:nvSpPr>
          <p:cNvPr id="10" name="Table fields cases"/>
          <p:cNvSpPr txBox="1"/>
          <p:nvPr/>
        </p:nvSpPr>
        <p:spPr>
          <a:xfrm>
            <a:off x="3383280" y="202996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created_by (FK users)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200" dirty="0"/>
          </a:p>
        </p:txBody>
      </p:sp>
      <p:sp>
        <p:nvSpPr>
          <p:cNvPr id="11" name="Table box evidence"/>
          <p:cNvSpPr/>
          <p:nvPr/>
        </p:nvSpPr>
        <p:spPr>
          <a:xfrm>
            <a:off x="6217920" y="1463040"/>
            <a:ext cx="2606040" cy="24871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2" name="Table header evidence"/>
          <p:cNvSpPr/>
          <p:nvPr/>
        </p:nvSpPr>
        <p:spPr>
          <a:xfrm>
            <a:off x="6217920" y="1463040"/>
            <a:ext cx="2606040" cy="457200"/>
          </a:xfrm>
          <a:prstGeom prst="rect">
            <a:avLst/>
          </a:prstGeom>
          <a:solidFill>
            <a:schemeClr val="tx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3" name="Table name evidence"/>
          <p:cNvSpPr txBox="1"/>
          <p:nvPr/>
        </p:nvSpPr>
        <p:spPr>
          <a:xfrm>
            <a:off x="6217920" y="1463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evidence</a:t>
            </a:r>
            <a:endParaRPr lang="en-US" sz="1500" dirty="0"/>
          </a:p>
        </p:txBody>
      </p:sp>
      <p:sp>
        <p:nvSpPr>
          <p:cNvPr id="14" name="Table fields evidence"/>
          <p:cNvSpPr txBox="1"/>
          <p:nvPr/>
        </p:nvSpPr>
        <p:spPr>
          <a:xfrm>
            <a:off x="6355080" y="2029968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case_id (FK cases)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original_name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stored_name (unique)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uploaded_by (FK users)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uploaded_at</a:t>
            </a:r>
            <a:endParaRPr lang="en-US" sz="1200" dirty="0"/>
          </a:p>
        </p:txBody>
      </p:sp>
      <p:sp>
        <p:nvSpPr>
          <p:cNvPr id="15" name="Table box custody_log"/>
          <p:cNvSpPr/>
          <p:nvPr/>
        </p:nvSpPr>
        <p:spPr>
          <a:xfrm>
            <a:off x="9144000" y="1463040"/>
            <a:ext cx="2496312" cy="276148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6" name="Table header custody_log"/>
          <p:cNvSpPr/>
          <p:nvPr/>
        </p:nvSpPr>
        <p:spPr>
          <a:xfrm>
            <a:off x="9144000" y="1463040"/>
            <a:ext cx="2496312" cy="457200"/>
          </a:xfrm>
          <a:prstGeom prst="rect">
            <a:avLst/>
          </a:prstGeom>
          <a:solidFill>
            <a:schemeClr val="accent4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7" name="Table name custody_log"/>
          <p:cNvSpPr txBox="1"/>
          <p:nvPr/>
        </p:nvSpPr>
        <p:spPr>
          <a:xfrm>
            <a:off x="9144000" y="146304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custody_log</a:t>
            </a:r>
            <a:endParaRPr lang="en-US" sz="1500" dirty="0"/>
          </a:p>
        </p:txBody>
      </p:sp>
      <p:sp>
        <p:nvSpPr>
          <p:cNvPr id="18" name="Table fields custody_log"/>
          <p:cNvSpPr txBox="1"/>
          <p:nvPr/>
        </p:nvSpPr>
        <p:spPr>
          <a:xfrm>
            <a:off x="9281160" y="2029968"/>
            <a:ext cx="22677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evidence_id (FK)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(FK users)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prev_hash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entry_hash</a:t>
            </a:r>
            <a:endParaRPr lang="en-US" sz="1200" dirty="0"/>
          </a:p>
        </p:txBody>
      </p:sp>
      <p:sp>
        <p:nvSpPr>
          <p:cNvPr id="19" name="Table box login_attempts"/>
          <p:cNvSpPr/>
          <p:nvPr/>
        </p:nvSpPr>
        <p:spPr>
          <a:xfrm>
            <a:off x="548640" y="3749040"/>
            <a:ext cx="2286000" cy="166420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20" name="Table header login_attempts"/>
          <p:cNvSpPr/>
          <p:nvPr/>
        </p:nvSpPr>
        <p:spPr>
          <a:xfrm>
            <a:off x="548640" y="3749040"/>
            <a:ext cx="2286000" cy="457200"/>
          </a:xfrm>
          <a:prstGeom prst="rect">
            <a:avLst/>
          </a:prstGeom>
          <a:solidFill>
            <a:schemeClr val="tx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21" name="Table name login_attempts"/>
          <p:cNvSpPr txBox="1"/>
          <p:nvPr/>
        </p:nvSpPr>
        <p:spPr>
          <a:xfrm>
            <a:off x="54864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login_attempts</a:t>
            </a:r>
            <a:endParaRPr lang="en-US" sz="1500" dirty="0"/>
          </a:p>
        </p:txBody>
      </p:sp>
      <p:sp>
        <p:nvSpPr>
          <p:cNvPr id="22" name="Table fields login_attempts"/>
          <p:cNvSpPr txBox="1"/>
          <p:nvPr/>
        </p:nvSpPr>
        <p:spPr>
          <a:xfrm>
            <a:off x="685800" y="4315968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attempted_at</a:t>
            </a:r>
            <a:endParaRPr lang="en-US" sz="1200" dirty="0"/>
          </a:p>
        </p:txBody>
      </p:sp>
      <p:sp>
        <p:nvSpPr>
          <p:cNvPr id="23" name="Relation users cases"/>
          <p:cNvSpPr/>
          <p:nvPr/>
        </p:nvSpPr>
        <p:spPr>
          <a:xfrm>
            <a:off x="2834640" y="2606040"/>
            <a:ext cx="4114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4" name="Relation cases evidence"/>
          <p:cNvSpPr/>
          <p:nvPr/>
        </p:nvSpPr>
        <p:spPr>
          <a:xfrm>
            <a:off x="5806440" y="2606040"/>
            <a:ext cx="4114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5" name="Relation evidence custody"/>
          <p:cNvSpPr/>
          <p:nvPr/>
        </p:nvSpPr>
        <p:spPr>
          <a:xfrm>
            <a:off x="8823960" y="2606040"/>
            <a:ext cx="32004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6" name="Data note card"/>
          <p:cNvSpPr/>
          <p:nvPr/>
        </p:nvSpPr>
        <p:spPr>
          <a:xfrm>
            <a:off x="3246120" y="4526280"/>
            <a:ext cx="55778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7" name="Data note"/>
          <p:cNvSpPr txBox="1"/>
          <p:nvPr/>
        </p:nvSpPr>
        <p:spPr>
          <a:xfrm>
            <a:off x="3474720" y="46634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Users also own the evidence they upload and the custody entries they create. Custody entries are never updated or deleted, and a failed upload leaves no row, no log entry and no file behind.</a:t>
            </a:r>
            <a:endParaRPr lang="en-US" sz="1500" dirty="0"/>
          </a:p>
        </p:txBody>
      </p:sp>
      <p:sp>
        <p:nvSpPr>
          <p:cNvPr id="28" name="Relation caption"/>
          <p:cNvSpPr txBox="1"/>
          <p:nvPr/>
        </p:nvSpPr>
        <p:spPr>
          <a:xfrm>
            <a:off x="9144000" y="4343400"/>
            <a:ext cx="2496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Lines show foreign keys: a case has many evidence items; an evidence item has many custody entries.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Security is designed in, not added later</a:t>
            </a:r>
            <a:endParaRPr lang="en-US" sz="3400" dirty="0"/>
          </a:p>
        </p:txBody>
      </p:sp>
      <p:graphicFrame>
        <p:nvGraphicFramePr>
          <p:cNvPr id="12" name="Threa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8543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Threat</a:t>
                      </a:r>
                      <a:endParaRPr lang="en-US" sz="1500" dirty="0"/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Planned control</a:t>
                      </a:r>
                      <a:endParaRPr lang="en-US" sz="1500" dirty="0"/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D3D"/>
                          </a:solidFill>
                        </a:rPr>
                        <a:t>SQL injection</a:t>
                      </a:r>
                      <a:endParaRPr lang="en-US" sz="1500" dirty="0"/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</a:rPr>
                        <a:t>Parameterised queries on every database call</a:t>
                      </a:r>
                      <a:endParaRPr lang="en-US" sz="1500" dirty="0"/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D3D"/>
                          </a:solidFill>
                        </a:rPr>
                        <a:t>Another investigator's case or evidence</a:t>
                      </a:r>
                      <a:endParaRPr lang="en-US" sz="1500" dirty="0"/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</a:rPr>
                        <a:t>Ownership checks on every route; a 404 page, not a 403</a:t>
                      </a:r>
                      <a:endParaRPr lang="en-US" sz="1500" dirty="0"/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D3D"/>
                          </a:solidFill>
                        </a:rPr>
                        <a:t>Stored cross-site scripting</a:t>
                      </a:r>
                      <a:endParaRPr lang="en-US" sz="1500" dirty="0"/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</a:rPr>
                        <a:t>Jinja autoescaping and a strict Content-Security-Policy</a:t>
                      </a:r>
                      <a:endParaRPr lang="en-US" sz="1500" dirty="0"/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D3D"/>
                          </a:solidFill>
                        </a:rPr>
                        <a:t>Malicious upload or path traversal</a:t>
                      </a:r>
                      <a:endParaRPr lang="en-US" sz="1500" dirty="0"/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</a:rPr>
                        <a:t>Extension allowlist, safe file names, random stored names, size limit</a:t>
                      </a:r>
                      <a:endParaRPr lang="en-US" sz="1500" dirty="0"/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D3D"/>
                          </a:solidFill>
                        </a:rPr>
                        <a:t>Cross-site request forgery</a:t>
                      </a:r>
                      <a:endParaRPr lang="en-US" sz="1500" dirty="0"/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</a:rPr>
                        <a:t>CSRF token on every POST; a test checks every POST route</a:t>
                      </a:r>
                      <a:endParaRPr lang="en-US" sz="1500" dirty="0"/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D3D"/>
                          </a:solidFill>
                        </a:rPr>
                        <a:t>Brute-force login</a:t>
                      </a:r>
                      <a:endParaRPr lang="en-US" sz="1500" dirty="0"/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</a:rPr>
                        <a:t>Per-username lockout: five failures in ten minutes</a:t>
                      </a:r>
                      <a:endParaRPr lang="en-US" sz="1500" dirty="0"/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D3D"/>
                          </a:solidFill>
                        </a:rPr>
                        <a:t>Evidence or log tampering</a:t>
                      </a:r>
                      <a:endParaRPr lang="en-US" sz="1500" dirty="0"/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</a:rPr>
                        <a:t>SHA-256 per file, hash-chained log, append-only triggers</a:t>
                      </a:r>
                      <a:endParaRPr lang="en-US" sz="1500" dirty="0"/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" name="Threat model note"/>
          <p:cNvSpPr txBox="1"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 living threat model records each threat with its asset, mitigation and status, and is updated after every step.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Issue-driven, test-backed, one step at a time</a:t>
            </a:r>
            <a:endParaRPr lang="en-US" sz="3400" dirty="0"/>
          </a:p>
        </p:txBody>
      </p:sp>
      <p:sp>
        <p:nvSpPr>
          <p:cNvPr id="3" name="Process step 1"/>
          <p:cNvSpPr/>
          <p:nvPr/>
        </p:nvSpPr>
        <p:spPr>
          <a:xfrm>
            <a:off x="548640" y="1554480"/>
            <a:ext cx="1965960" cy="1051560"/>
          </a:xfrm>
          <a:prstGeom prst="homePlat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  Issue</a:t>
            </a:r>
            <a:endParaRPr lang="en-US" sz="1500" dirty="0"/>
          </a:p>
        </p:txBody>
      </p:sp>
      <p:sp>
        <p:nvSpPr>
          <p:cNvPr id="4" name="Process step 2"/>
          <p:cNvSpPr/>
          <p:nvPr/>
        </p:nvSpPr>
        <p:spPr>
          <a:xfrm>
            <a:off x="2377440" y="1554480"/>
            <a:ext cx="1965960" cy="1051560"/>
          </a:xfrm>
          <a:prstGeom prst="chevron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  Branch</a:t>
            </a:r>
            <a:endParaRPr lang="en-US" sz="1500" dirty="0"/>
          </a:p>
        </p:txBody>
      </p:sp>
      <p:sp>
        <p:nvSpPr>
          <p:cNvPr id="5" name="Process step 3"/>
          <p:cNvSpPr/>
          <p:nvPr/>
        </p:nvSpPr>
        <p:spPr>
          <a:xfrm>
            <a:off x="4206240" y="1554480"/>
            <a:ext cx="1965960" cy="1051560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  Build and test</a:t>
            </a:r>
            <a:endParaRPr lang="en-US" sz="1500" dirty="0"/>
          </a:p>
        </p:txBody>
      </p:sp>
      <p:sp>
        <p:nvSpPr>
          <p:cNvPr id="6" name="Process step 4"/>
          <p:cNvSpPr/>
          <p:nvPr/>
        </p:nvSpPr>
        <p:spPr>
          <a:xfrm>
            <a:off x="6035040" y="1554480"/>
            <a:ext cx="1965960" cy="1051560"/>
          </a:xfrm>
          <a:prstGeom prst="chevron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  Manual check</a:t>
            </a:r>
            <a:endParaRPr lang="en-US" sz="1500" dirty="0"/>
          </a:p>
        </p:txBody>
      </p:sp>
      <p:sp>
        <p:nvSpPr>
          <p:cNvPr id="7" name="Process step 5"/>
          <p:cNvSpPr/>
          <p:nvPr/>
        </p:nvSpPr>
        <p:spPr>
          <a:xfrm>
            <a:off x="7863840" y="1554480"/>
            <a:ext cx="1965960" cy="1051560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  Pull request</a:t>
            </a:r>
            <a:endParaRPr lang="en-US" sz="1500" dirty="0"/>
          </a:p>
        </p:txBody>
      </p:sp>
      <p:sp>
        <p:nvSpPr>
          <p:cNvPr id="8" name="Process step 6"/>
          <p:cNvSpPr/>
          <p:nvPr/>
        </p:nvSpPr>
        <p:spPr>
          <a:xfrm>
            <a:off x="9692640" y="1554480"/>
            <a:ext cx="1965960" cy="1051560"/>
          </a:xfrm>
          <a:prstGeom prst="chevron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  Merge and docs</a:t>
            </a:r>
            <a:endParaRPr lang="en-US" sz="1500" dirty="0"/>
          </a:p>
        </p:txBody>
      </p:sp>
      <p:sp>
        <p:nvSpPr>
          <p:cNvPr id="9" name="Method card 1"/>
          <p:cNvSpPr/>
          <p:nvPr/>
        </p:nvSpPr>
        <p:spPr>
          <a:xfrm>
            <a:off x="548640" y="3108960"/>
            <a:ext cx="352044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0" name="FaTasks circle"/>
          <p:cNvSpPr/>
          <p:nvPr/>
        </p:nvSpPr>
        <p:spPr>
          <a:xfrm>
            <a:off x="822960" y="33832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FaTasks" descr="Task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3556102"/>
            <a:ext cx="294437" cy="294437"/>
          </a:xfrm>
          <a:prstGeom prst="rect">
            <a:avLst/>
          </a:prstGeom>
        </p:spPr>
      </p:pic>
      <p:sp>
        <p:nvSpPr>
          <p:cNvPr id="12" name="Method label 1"/>
          <p:cNvSpPr txBox="1"/>
          <p:nvPr/>
        </p:nvSpPr>
        <p:spPr>
          <a:xfrm>
            <a:off x="822960" y="4206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Tracked work</a:t>
            </a:r>
            <a:endParaRPr lang="en-US" sz="2000" dirty="0"/>
          </a:p>
        </p:txBody>
      </p:sp>
      <p:sp>
        <p:nvSpPr>
          <p:cNvPr id="13" name="Method text 1"/>
          <p:cNvSpPr txBox="1"/>
          <p:nvPr/>
        </p:nvSpPr>
        <p:spPr>
          <a:xfrm>
            <a:off x="822960" y="47091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12 GitHub issues on a project board, one per step, each closed by its pull request.</a:t>
            </a:r>
            <a:endParaRPr lang="en-US" sz="1500" dirty="0"/>
          </a:p>
        </p:txBody>
      </p:sp>
      <p:sp>
        <p:nvSpPr>
          <p:cNvPr id="14" name="Method card 2"/>
          <p:cNvSpPr/>
          <p:nvPr/>
        </p:nvSpPr>
        <p:spPr>
          <a:xfrm>
            <a:off x="4329684" y="3108960"/>
            <a:ext cx="352044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5" name="FaCodeBranch circle"/>
          <p:cNvSpPr/>
          <p:nvPr/>
        </p:nvSpPr>
        <p:spPr>
          <a:xfrm>
            <a:off x="4604004" y="33832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FaCodeBranch" descr="CodeBranch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826" y="3556102"/>
            <a:ext cx="294437" cy="294437"/>
          </a:xfrm>
          <a:prstGeom prst="rect">
            <a:avLst/>
          </a:prstGeom>
        </p:spPr>
      </p:pic>
      <p:sp>
        <p:nvSpPr>
          <p:cNvPr id="17" name="Method label 2"/>
          <p:cNvSpPr txBox="1"/>
          <p:nvPr/>
        </p:nvSpPr>
        <p:spPr>
          <a:xfrm>
            <a:off x="4604004" y="4206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Safe changes</a:t>
            </a:r>
            <a:endParaRPr lang="en-US" sz="2000" dirty="0"/>
          </a:p>
        </p:txBody>
      </p:sp>
      <p:sp>
        <p:nvSpPr>
          <p:cNvPr id="18" name="Method text 2"/>
          <p:cNvSpPr txBox="1"/>
          <p:nvPr/>
        </p:nvSpPr>
        <p:spPr>
          <a:xfrm>
            <a:off x="4604004" y="47091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branch per step. Nothing is committed straight to main, so the history stays readable and reversible.</a:t>
            </a:r>
            <a:endParaRPr lang="en-US" sz="1500" dirty="0"/>
          </a:p>
        </p:txBody>
      </p:sp>
      <p:sp>
        <p:nvSpPr>
          <p:cNvPr id="19" name="Method card 3"/>
          <p:cNvSpPr/>
          <p:nvPr/>
        </p:nvSpPr>
        <p:spPr>
          <a:xfrm>
            <a:off x="8110728" y="3108960"/>
            <a:ext cx="352044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20" name="FaCamera circle"/>
          <p:cNvSpPr/>
          <p:nvPr/>
        </p:nvSpPr>
        <p:spPr>
          <a:xfrm>
            <a:off x="8385048" y="33832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FaCamera" descr="Camera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870" y="3556102"/>
            <a:ext cx="294437" cy="294437"/>
          </a:xfrm>
          <a:prstGeom prst="rect">
            <a:avLst/>
          </a:prstGeom>
        </p:spPr>
      </p:pic>
      <p:sp>
        <p:nvSpPr>
          <p:cNvPr id="22" name="Method label 3"/>
          <p:cNvSpPr txBox="1"/>
          <p:nvPr/>
        </p:nvSpPr>
        <p:spPr>
          <a:xfrm>
            <a:off x="8385048" y="4206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Evidence of progress</a:t>
            </a:r>
            <a:endParaRPr lang="en-US" sz="2000" dirty="0"/>
          </a:p>
        </p:txBody>
      </p:sp>
      <p:sp>
        <p:nvSpPr>
          <p:cNvPr id="23" name="Method text 3"/>
          <p:cNvSpPr txBox="1"/>
          <p:nvPr/>
        </p:nvSpPr>
        <p:spPr>
          <a:xfrm>
            <a:off x="8385048" y="47091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development log, screenshots and threat-model updates are written after every step.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Proven tools, nothing exotic</a:t>
            </a:r>
            <a:endParaRPr lang="en-US" sz="3400" dirty="0"/>
          </a:p>
        </p:txBody>
      </p:sp>
      <p:sp>
        <p:nvSpPr>
          <p:cNvPr id="3" name="Tech tile 1"/>
          <p:cNvSpPr/>
          <p:nvPr/>
        </p:nvSpPr>
        <p:spPr>
          <a:xfrm>
            <a:off x="548640" y="1463040"/>
            <a:ext cx="2633472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4" name="FaPython circle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FaPython" descr="Pytho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717" y="1852117"/>
            <a:ext cx="273406" cy="273406"/>
          </a:xfrm>
          <a:prstGeom prst="rect">
            <a:avLst/>
          </a:prstGeom>
        </p:spPr>
      </p:pic>
      <p:sp>
        <p:nvSpPr>
          <p:cNvPr id="6" name="Tech name 1"/>
          <p:cNvSpPr txBox="1"/>
          <p:nvPr/>
        </p:nvSpPr>
        <p:spPr>
          <a:xfrm>
            <a:off x="777240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Python 3.13</a:t>
            </a:r>
            <a:endParaRPr lang="en-US" sz="1800" dirty="0"/>
          </a:p>
        </p:txBody>
      </p:sp>
      <p:sp>
        <p:nvSpPr>
          <p:cNvPr id="7" name="Tech reason 1"/>
          <p:cNvSpPr txBox="1"/>
          <p:nvPr/>
        </p:nvSpPr>
        <p:spPr>
          <a:xfrm>
            <a:off x="777240" y="2834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Readable language used throughout the course</a:t>
            </a:r>
            <a:endParaRPr lang="en-US" sz="1400" dirty="0"/>
          </a:p>
        </p:txBody>
      </p:sp>
      <p:sp>
        <p:nvSpPr>
          <p:cNvPr id="8" name="Tech tile 2"/>
          <p:cNvSpPr/>
          <p:nvPr/>
        </p:nvSpPr>
        <p:spPr>
          <a:xfrm>
            <a:off x="3367735" y="1463040"/>
            <a:ext cx="2633472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9" name="FaFlask circle"/>
          <p:cNvSpPr/>
          <p:nvPr/>
        </p:nvSpPr>
        <p:spPr>
          <a:xfrm>
            <a:off x="3596335" y="169164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FaFlask" descr="Flas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812" y="1852117"/>
            <a:ext cx="273406" cy="273406"/>
          </a:xfrm>
          <a:prstGeom prst="rect">
            <a:avLst/>
          </a:prstGeom>
        </p:spPr>
      </p:pic>
      <p:sp>
        <p:nvSpPr>
          <p:cNvPr id="11" name="Tech name 2"/>
          <p:cNvSpPr txBox="1"/>
          <p:nvPr/>
        </p:nvSpPr>
        <p:spPr>
          <a:xfrm>
            <a:off x="3596335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Flask 3.1</a:t>
            </a:r>
            <a:endParaRPr lang="en-US" sz="1800" dirty="0"/>
          </a:p>
        </p:txBody>
      </p:sp>
      <p:sp>
        <p:nvSpPr>
          <p:cNvPr id="12" name="Tech reason 2"/>
          <p:cNvSpPr txBox="1"/>
          <p:nvPr/>
        </p:nvSpPr>
        <p:spPr>
          <a:xfrm>
            <a:off x="3596335" y="2834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Small web framework with explicit routes and sessions</a:t>
            </a:r>
            <a:endParaRPr lang="en-US" sz="1400" dirty="0"/>
          </a:p>
        </p:txBody>
      </p:sp>
      <p:sp>
        <p:nvSpPr>
          <p:cNvPr id="13" name="Tech tile 3"/>
          <p:cNvSpPr/>
          <p:nvPr/>
        </p:nvSpPr>
        <p:spPr>
          <a:xfrm>
            <a:off x="6186830" y="1463040"/>
            <a:ext cx="2633472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4" name="FaShieldAlt circle"/>
          <p:cNvSpPr/>
          <p:nvPr/>
        </p:nvSpPr>
        <p:spPr>
          <a:xfrm>
            <a:off x="6415430" y="169164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FaShieldAlt" descr="ShieldAl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1852117"/>
            <a:ext cx="273406" cy="273406"/>
          </a:xfrm>
          <a:prstGeom prst="rect">
            <a:avLst/>
          </a:prstGeom>
        </p:spPr>
      </p:pic>
      <p:sp>
        <p:nvSpPr>
          <p:cNvPr id="16" name="Tech name 3"/>
          <p:cNvSpPr txBox="1"/>
          <p:nvPr/>
        </p:nvSpPr>
        <p:spPr>
          <a:xfrm>
            <a:off x="6415430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Flask-WTF</a:t>
            </a:r>
            <a:endParaRPr lang="en-US" sz="1800" dirty="0"/>
          </a:p>
        </p:txBody>
      </p:sp>
      <p:sp>
        <p:nvSpPr>
          <p:cNvPr id="17" name="Tech reason 3"/>
          <p:cNvSpPr txBox="1"/>
          <p:nvPr/>
        </p:nvSpPr>
        <p:spPr>
          <a:xfrm>
            <a:off x="6415430" y="2834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CSRF protection applied to every POST route</a:t>
            </a:r>
            <a:endParaRPr lang="en-US" sz="1400" dirty="0"/>
          </a:p>
        </p:txBody>
      </p:sp>
      <p:sp>
        <p:nvSpPr>
          <p:cNvPr id="18" name="Tech tile 4"/>
          <p:cNvSpPr/>
          <p:nvPr/>
        </p:nvSpPr>
        <p:spPr>
          <a:xfrm>
            <a:off x="9005926" y="1463040"/>
            <a:ext cx="2633472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9" name="FaFileCode circle"/>
          <p:cNvSpPr/>
          <p:nvPr/>
        </p:nvSpPr>
        <p:spPr>
          <a:xfrm>
            <a:off x="9234526" y="169164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FaFileCode" descr="FileCod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003" y="1852117"/>
            <a:ext cx="273406" cy="273406"/>
          </a:xfrm>
          <a:prstGeom prst="rect">
            <a:avLst/>
          </a:prstGeom>
        </p:spPr>
      </p:pic>
      <p:sp>
        <p:nvSpPr>
          <p:cNvPr id="21" name="Tech name 4"/>
          <p:cNvSpPr txBox="1"/>
          <p:nvPr/>
        </p:nvSpPr>
        <p:spPr>
          <a:xfrm>
            <a:off x="9234526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Jinja2</a:t>
            </a:r>
            <a:endParaRPr lang="en-US" sz="1800" dirty="0"/>
          </a:p>
        </p:txBody>
      </p:sp>
      <p:sp>
        <p:nvSpPr>
          <p:cNvPr id="22" name="Tech reason 4"/>
          <p:cNvSpPr txBox="1"/>
          <p:nvPr/>
        </p:nvSpPr>
        <p:spPr>
          <a:xfrm>
            <a:off x="9234526" y="2834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Templates that escape output by default</a:t>
            </a:r>
            <a:endParaRPr lang="en-US" sz="1400" dirty="0"/>
          </a:p>
        </p:txBody>
      </p:sp>
      <p:sp>
        <p:nvSpPr>
          <p:cNvPr id="23" name="Tech tile 5"/>
          <p:cNvSpPr/>
          <p:nvPr/>
        </p:nvSpPr>
        <p:spPr>
          <a:xfrm>
            <a:off x="548640" y="3886200"/>
            <a:ext cx="2633472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24" name="FaDatabase circle"/>
          <p:cNvSpPr/>
          <p:nvPr/>
        </p:nvSpPr>
        <p:spPr>
          <a:xfrm>
            <a:off x="777240" y="411480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FaDatabase" descr="Databas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717" y="4275277"/>
            <a:ext cx="273406" cy="273406"/>
          </a:xfrm>
          <a:prstGeom prst="rect">
            <a:avLst/>
          </a:prstGeom>
        </p:spPr>
      </p:pic>
      <p:sp>
        <p:nvSpPr>
          <p:cNvPr id="26" name="Tech name 5"/>
          <p:cNvSpPr txBox="1"/>
          <p:nvPr/>
        </p:nvSpPr>
        <p:spPr>
          <a:xfrm>
            <a:off x="777240" y="4846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SQLite</a:t>
            </a:r>
            <a:endParaRPr lang="en-US" sz="1800" dirty="0"/>
          </a:p>
        </p:txBody>
      </p:sp>
      <p:sp>
        <p:nvSpPr>
          <p:cNvPr id="27" name="Tech reason 5"/>
          <p:cNvSpPr txBox="1"/>
          <p:nvPr/>
        </p:nvSpPr>
        <p:spPr>
          <a:xfrm>
            <a:off x="777240" y="5257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Embedded database with triggers for the append-only log</a:t>
            </a:r>
            <a:endParaRPr lang="en-US" sz="1400" dirty="0"/>
          </a:p>
        </p:txBody>
      </p:sp>
      <p:sp>
        <p:nvSpPr>
          <p:cNvPr id="28" name="Tech tile 6"/>
          <p:cNvSpPr/>
          <p:nvPr/>
        </p:nvSpPr>
        <p:spPr>
          <a:xfrm>
            <a:off x="3367735" y="3886200"/>
            <a:ext cx="2633472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29" name="FaVial circle"/>
          <p:cNvSpPr/>
          <p:nvPr/>
        </p:nvSpPr>
        <p:spPr>
          <a:xfrm>
            <a:off x="3596335" y="411480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FaVial" descr="Vial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6812" y="4275277"/>
            <a:ext cx="273406" cy="273406"/>
          </a:xfrm>
          <a:prstGeom prst="rect">
            <a:avLst/>
          </a:prstGeom>
        </p:spPr>
      </p:pic>
      <p:sp>
        <p:nvSpPr>
          <p:cNvPr id="31" name="Tech name 6"/>
          <p:cNvSpPr txBox="1"/>
          <p:nvPr/>
        </p:nvSpPr>
        <p:spPr>
          <a:xfrm>
            <a:off x="3596335" y="4846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pytest and coverage</a:t>
            </a:r>
            <a:endParaRPr lang="en-US" sz="1800" dirty="0"/>
          </a:p>
        </p:txBody>
      </p:sp>
      <p:sp>
        <p:nvSpPr>
          <p:cNvPr id="32" name="Tech reason 6"/>
          <p:cNvSpPr txBox="1"/>
          <p:nvPr/>
        </p:nvSpPr>
        <p:spPr>
          <a:xfrm>
            <a:off x="3596335" y="5257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 tests and a measured coverage figure</a:t>
            </a:r>
            <a:endParaRPr lang="en-US" sz="1400" dirty="0"/>
          </a:p>
        </p:txBody>
      </p:sp>
      <p:sp>
        <p:nvSpPr>
          <p:cNvPr id="33" name="Tech tile 7"/>
          <p:cNvSpPr/>
          <p:nvPr/>
        </p:nvSpPr>
        <p:spPr>
          <a:xfrm>
            <a:off x="6186830" y="3886200"/>
            <a:ext cx="2633472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34" name="FaGithub circle"/>
          <p:cNvSpPr/>
          <p:nvPr/>
        </p:nvSpPr>
        <p:spPr>
          <a:xfrm>
            <a:off x="6415430" y="411480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5" name="FaGithub" descr="Github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5908" y="4275277"/>
            <a:ext cx="273406" cy="273406"/>
          </a:xfrm>
          <a:prstGeom prst="rect">
            <a:avLst/>
          </a:prstGeom>
        </p:spPr>
      </p:pic>
      <p:sp>
        <p:nvSpPr>
          <p:cNvPr id="36" name="Tech name 7"/>
          <p:cNvSpPr txBox="1"/>
          <p:nvPr/>
        </p:nvSpPr>
        <p:spPr>
          <a:xfrm>
            <a:off x="6415430" y="4846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GitHub Actions</a:t>
            </a:r>
            <a:endParaRPr lang="en-US" sz="1800" dirty="0"/>
          </a:p>
        </p:txBody>
      </p:sp>
      <p:sp>
        <p:nvSpPr>
          <p:cNvPr id="37" name="Tech reason 7"/>
          <p:cNvSpPr txBox="1"/>
          <p:nvPr/>
        </p:nvSpPr>
        <p:spPr>
          <a:xfrm>
            <a:off x="6415430" y="5257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Runs the tests on every push and pull request</a:t>
            </a:r>
            <a:endParaRPr lang="en-US" sz="1400" dirty="0"/>
          </a:p>
        </p:txBody>
      </p:sp>
      <p:sp>
        <p:nvSpPr>
          <p:cNvPr id="38" name="Tech tile 8"/>
          <p:cNvSpPr/>
          <p:nvPr/>
        </p:nvSpPr>
        <p:spPr>
          <a:xfrm>
            <a:off x="9005926" y="3886200"/>
            <a:ext cx="2633472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39" name="FaCloud circle"/>
          <p:cNvSpPr/>
          <p:nvPr/>
        </p:nvSpPr>
        <p:spPr>
          <a:xfrm>
            <a:off x="9234526" y="411480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0" name="FaCloud" descr="Cloud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5003" y="4275277"/>
            <a:ext cx="273406" cy="273406"/>
          </a:xfrm>
          <a:prstGeom prst="rect">
            <a:avLst/>
          </a:prstGeom>
        </p:spPr>
      </p:pic>
      <p:sp>
        <p:nvSpPr>
          <p:cNvPr id="41" name="Tech name 8"/>
          <p:cNvSpPr txBox="1"/>
          <p:nvPr/>
        </p:nvSpPr>
        <p:spPr>
          <a:xfrm>
            <a:off x="9234526" y="4846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PythonAnywhere</a:t>
            </a:r>
            <a:endParaRPr lang="en-US" sz="1800" dirty="0"/>
          </a:p>
        </p:txBody>
      </p:sp>
      <p:sp>
        <p:nvSpPr>
          <p:cNvPr id="42" name="Tech reason 8"/>
          <p:cNvSpPr txBox="1"/>
          <p:nvPr/>
        </p:nvSpPr>
        <p:spPr>
          <a:xfrm>
            <a:off x="9234526" y="5257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Free HTTPS hosting with a persistent disk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 14-day plan in ten steps</a:t>
            </a:r>
            <a:endParaRPr lang="en-US" sz="3400" dirty="0"/>
          </a:p>
        </p:txBody>
      </p:sp>
      <p:sp>
        <p:nvSpPr>
          <p:cNvPr id="3" name="Gantt corner"/>
          <p:cNvSpPr txBox="1"/>
          <p:nvPr/>
        </p:nvSpPr>
        <p:spPr>
          <a:xfrm>
            <a:off x="54864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Day</a:t>
            </a:r>
            <a:endParaRPr lang="en-US" sz="1200" dirty="0"/>
          </a:p>
        </p:txBody>
      </p:sp>
      <p:sp>
        <p:nvSpPr>
          <p:cNvPr id="4" name="Day 1"/>
          <p:cNvSpPr txBox="1"/>
          <p:nvPr/>
        </p:nvSpPr>
        <p:spPr>
          <a:xfrm>
            <a:off x="4114800" y="1463040"/>
            <a:ext cx="5375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Day 2"/>
          <p:cNvSpPr txBox="1"/>
          <p:nvPr/>
        </p:nvSpPr>
        <p:spPr>
          <a:xfrm>
            <a:off x="4652337" y="1463040"/>
            <a:ext cx="5375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2</a:t>
            </a:r>
            <a:endParaRPr lang="en-US" sz="1200" dirty="0"/>
          </a:p>
        </p:txBody>
      </p:sp>
      <p:sp>
        <p:nvSpPr>
          <p:cNvPr id="6" name="Day 3"/>
          <p:cNvSpPr txBox="1"/>
          <p:nvPr/>
        </p:nvSpPr>
        <p:spPr>
          <a:xfrm>
            <a:off x="5189873" y="1463040"/>
            <a:ext cx="5375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3</a:t>
            </a:r>
            <a:endParaRPr lang="en-US" sz="1200" dirty="0"/>
          </a:p>
        </p:txBody>
      </p:sp>
      <p:sp>
        <p:nvSpPr>
          <p:cNvPr id="7" name="Day 4"/>
          <p:cNvSpPr txBox="1"/>
          <p:nvPr/>
        </p:nvSpPr>
        <p:spPr>
          <a:xfrm>
            <a:off x="5727410" y="1463040"/>
            <a:ext cx="5375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4</a:t>
            </a:r>
            <a:endParaRPr lang="en-US" sz="1200" dirty="0"/>
          </a:p>
        </p:txBody>
      </p:sp>
      <p:sp>
        <p:nvSpPr>
          <p:cNvPr id="8" name="Day 5"/>
          <p:cNvSpPr txBox="1"/>
          <p:nvPr/>
        </p:nvSpPr>
        <p:spPr>
          <a:xfrm>
            <a:off x="6264946" y="1463040"/>
            <a:ext cx="5375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5</a:t>
            </a:r>
            <a:endParaRPr lang="en-US" sz="1200" dirty="0"/>
          </a:p>
        </p:txBody>
      </p:sp>
      <p:sp>
        <p:nvSpPr>
          <p:cNvPr id="9" name="Day 6"/>
          <p:cNvSpPr txBox="1"/>
          <p:nvPr/>
        </p:nvSpPr>
        <p:spPr>
          <a:xfrm>
            <a:off x="6802483" y="1463040"/>
            <a:ext cx="5375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6</a:t>
            </a:r>
            <a:endParaRPr lang="en-US" sz="1200" dirty="0"/>
          </a:p>
        </p:txBody>
      </p:sp>
      <p:sp>
        <p:nvSpPr>
          <p:cNvPr id="10" name="Day 7"/>
          <p:cNvSpPr txBox="1"/>
          <p:nvPr/>
        </p:nvSpPr>
        <p:spPr>
          <a:xfrm>
            <a:off x="7340019" y="1463040"/>
            <a:ext cx="5375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7</a:t>
            </a:r>
            <a:endParaRPr lang="en-US" sz="1200" dirty="0"/>
          </a:p>
        </p:txBody>
      </p:sp>
      <p:sp>
        <p:nvSpPr>
          <p:cNvPr id="11" name="Day 8"/>
          <p:cNvSpPr txBox="1"/>
          <p:nvPr/>
        </p:nvSpPr>
        <p:spPr>
          <a:xfrm>
            <a:off x="7877556" y="1463040"/>
            <a:ext cx="5375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8</a:t>
            </a:r>
            <a:endParaRPr lang="en-US" sz="1200" dirty="0"/>
          </a:p>
        </p:txBody>
      </p:sp>
      <p:sp>
        <p:nvSpPr>
          <p:cNvPr id="12" name="Day 9"/>
          <p:cNvSpPr txBox="1"/>
          <p:nvPr/>
        </p:nvSpPr>
        <p:spPr>
          <a:xfrm>
            <a:off x="8415093" y="1463040"/>
            <a:ext cx="5375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9</a:t>
            </a:r>
            <a:endParaRPr lang="en-US" sz="1200" dirty="0"/>
          </a:p>
        </p:txBody>
      </p:sp>
      <p:sp>
        <p:nvSpPr>
          <p:cNvPr id="13" name="Day 10"/>
          <p:cNvSpPr txBox="1"/>
          <p:nvPr/>
        </p:nvSpPr>
        <p:spPr>
          <a:xfrm>
            <a:off x="8952629" y="1463040"/>
            <a:ext cx="5375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10</a:t>
            </a:r>
            <a:endParaRPr lang="en-US" sz="1200" dirty="0"/>
          </a:p>
        </p:txBody>
      </p:sp>
      <p:sp>
        <p:nvSpPr>
          <p:cNvPr id="14" name="Day 11"/>
          <p:cNvSpPr txBox="1"/>
          <p:nvPr/>
        </p:nvSpPr>
        <p:spPr>
          <a:xfrm>
            <a:off x="9490166" y="1463040"/>
            <a:ext cx="5375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11</a:t>
            </a:r>
            <a:endParaRPr lang="en-US" sz="1200" dirty="0"/>
          </a:p>
        </p:txBody>
      </p:sp>
      <p:sp>
        <p:nvSpPr>
          <p:cNvPr id="15" name="Day 12"/>
          <p:cNvSpPr txBox="1"/>
          <p:nvPr/>
        </p:nvSpPr>
        <p:spPr>
          <a:xfrm>
            <a:off x="10027702" y="1463040"/>
            <a:ext cx="5375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12</a:t>
            </a:r>
            <a:endParaRPr lang="en-US" sz="1200" dirty="0"/>
          </a:p>
        </p:txBody>
      </p:sp>
      <p:sp>
        <p:nvSpPr>
          <p:cNvPr id="16" name="Day 13"/>
          <p:cNvSpPr txBox="1"/>
          <p:nvPr/>
        </p:nvSpPr>
        <p:spPr>
          <a:xfrm>
            <a:off x="10565239" y="1463040"/>
            <a:ext cx="5375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13</a:t>
            </a:r>
            <a:endParaRPr lang="en-US" sz="1200" dirty="0"/>
          </a:p>
        </p:txBody>
      </p:sp>
      <p:sp>
        <p:nvSpPr>
          <p:cNvPr id="17" name="Day 14"/>
          <p:cNvSpPr txBox="1"/>
          <p:nvPr/>
        </p:nvSpPr>
        <p:spPr>
          <a:xfrm>
            <a:off x="11102775" y="1463040"/>
            <a:ext cx="5375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14</a:t>
            </a:r>
            <a:endParaRPr lang="en-US" sz="1200" dirty="0"/>
          </a:p>
        </p:txBody>
      </p:sp>
      <p:sp>
        <p:nvSpPr>
          <p:cNvPr id="18" name="Row band 1"/>
          <p:cNvSpPr/>
          <p:nvPr/>
        </p:nvSpPr>
        <p:spPr>
          <a:xfrm>
            <a:off x="548640" y="1874520"/>
            <a:ext cx="11091672" cy="38404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Gantt label 1"/>
          <p:cNvSpPr txBox="1"/>
          <p:nvPr/>
        </p:nvSpPr>
        <p:spPr>
          <a:xfrm>
            <a:off x="685800" y="18745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Setup and planning</a:t>
            </a:r>
            <a:endParaRPr lang="en-US" sz="1400" dirty="0"/>
          </a:p>
        </p:txBody>
      </p:sp>
      <p:sp>
        <p:nvSpPr>
          <p:cNvPr id="20" name="Gantt bar 1"/>
          <p:cNvSpPr/>
          <p:nvPr/>
        </p:nvSpPr>
        <p:spPr>
          <a:xfrm>
            <a:off x="4142232" y="1947672"/>
            <a:ext cx="482673" cy="237744"/>
          </a:xfrm>
          <a:prstGeom prst="roundRect">
            <a:avLst>
              <a:gd name="adj" fmla="val 30769"/>
            </a:avLst>
          </a:prstGeom>
          <a:solidFill>
            <a:schemeClr val="accent2"/>
          </a:solidFill>
          <a:ln/>
        </p:spPr>
      </p:sp>
      <p:sp>
        <p:nvSpPr>
          <p:cNvPr id="21" name="Gantt label 2"/>
          <p:cNvSpPr txBox="1"/>
          <p:nvPr/>
        </p:nvSpPr>
        <p:spPr>
          <a:xfrm>
            <a:off x="685800" y="22585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Foundation and authentication</a:t>
            </a:r>
            <a:endParaRPr lang="en-US" sz="1400" dirty="0"/>
          </a:p>
        </p:txBody>
      </p:sp>
      <p:sp>
        <p:nvSpPr>
          <p:cNvPr id="22" name="Gantt bar 2"/>
          <p:cNvSpPr/>
          <p:nvPr/>
        </p:nvSpPr>
        <p:spPr>
          <a:xfrm>
            <a:off x="4679769" y="2331720"/>
            <a:ext cx="1020209" cy="237744"/>
          </a:xfrm>
          <a:prstGeom prst="roundRect">
            <a:avLst>
              <a:gd name="adj" fmla="val 30769"/>
            </a:avLst>
          </a:prstGeom>
          <a:solidFill>
            <a:schemeClr val="accent2"/>
          </a:solidFill>
          <a:ln/>
        </p:spPr>
      </p:sp>
      <p:sp>
        <p:nvSpPr>
          <p:cNvPr id="23" name="Row band 3"/>
          <p:cNvSpPr/>
          <p:nvPr/>
        </p:nvSpPr>
        <p:spPr>
          <a:xfrm>
            <a:off x="548640" y="2642616"/>
            <a:ext cx="11091672" cy="38404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Gantt label 3"/>
          <p:cNvSpPr txBox="1"/>
          <p:nvPr/>
        </p:nvSpPr>
        <p:spPr>
          <a:xfrm>
            <a:off x="685800" y="26426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Case management</a:t>
            </a:r>
            <a:endParaRPr lang="en-US" sz="1400" dirty="0"/>
          </a:p>
        </p:txBody>
      </p:sp>
      <p:sp>
        <p:nvSpPr>
          <p:cNvPr id="25" name="Gantt bar 3"/>
          <p:cNvSpPr/>
          <p:nvPr/>
        </p:nvSpPr>
        <p:spPr>
          <a:xfrm>
            <a:off x="5754842" y="2715768"/>
            <a:ext cx="482673" cy="237744"/>
          </a:xfrm>
          <a:prstGeom prst="roundRect">
            <a:avLst>
              <a:gd name="adj" fmla="val 30769"/>
            </a:avLst>
          </a:prstGeom>
          <a:solidFill>
            <a:schemeClr val="accent2"/>
          </a:solidFill>
          <a:ln/>
        </p:spPr>
      </p:sp>
      <p:sp>
        <p:nvSpPr>
          <p:cNvPr id="26" name="Gantt label 4"/>
          <p:cNvSpPr txBox="1"/>
          <p:nvPr/>
        </p:nvSpPr>
        <p:spPr>
          <a:xfrm>
            <a:off x="685800" y="302666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Evidence upload and hashing</a:t>
            </a:r>
            <a:endParaRPr lang="en-US" sz="1400" dirty="0"/>
          </a:p>
        </p:txBody>
      </p:sp>
      <p:sp>
        <p:nvSpPr>
          <p:cNvPr id="27" name="Gantt bar 4"/>
          <p:cNvSpPr/>
          <p:nvPr/>
        </p:nvSpPr>
        <p:spPr>
          <a:xfrm>
            <a:off x="6292378" y="3099816"/>
            <a:ext cx="482673" cy="237744"/>
          </a:xfrm>
          <a:prstGeom prst="roundRect">
            <a:avLst>
              <a:gd name="adj" fmla="val 30769"/>
            </a:avLst>
          </a:prstGeom>
          <a:solidFill>
            <a:schemeClr val="accent2"/>
          </a:solidFill>
          <a:ln/>
        </p:spPr>
      </p:sp>
      <p:sp>
        <p:nvSpPr>
          <p:cNvPr id="28" name="Row band 5"/>
          <p:cNvSpPr/>
          <p:nvPr/>
        </p:nvSpPr>
        <p:spPr>
          <a:xfrm>
            <a:off x="548640" y="3410712"/>
            <a:ext cx="11091672" cy="38404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9" name="Gantt label 5"/>
          <p:cNvSpPr txBox="1"/>
          <p:nvPr/>
        </p:nvSpPr>
        <p:spPr>
          <a:xfrm>
            <a:off x="685800" y="34107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Chain-of-custody log</a:t>
            </a:r>
            <a:endParaRPr lang="en-US" sz="1400" dirty="0"/>
          </a:p>
        </p:txBody>
      </p:sp>
      <p:sp>
        <p:nvSpPr>
          <p:cNvPr id="30" name="Gantt bar 5"/>
          <p:cNvSpPr/>
          <p:nvPr/>
        </p:nvSpPr>
        <p:spPr>
          <a:xfrm>
            <a:off x="6829915" y="3483864"/>
            <a:ext cx="482673" cy="237744"/>
          </a:xfrm>
          <a:prstGeom prst="roundRect">
            <a:avLst>
              <a:gd name="adj" fmla="val 30769"/>
            </a:avLst>
          </a:prstGeom>
          <a:solidFill>
            <a:schemeClr val="accent2"/>
          </a:solidFill>
          <a:ln/>
        </p:spPr>
      </p:sp>
      <p:sp>
        <p:nvSpPr>
          <p:cNvPr id="31" name="Gantt label 6"/>
          <p:cNvSpPr txBox="1"/>
          <p:nvPr/>
        </p:nvSpPr>
        <p:spPr>
          <a:xfrm>
            <a:off x="685800" y="37947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Integrity verification</a:t>
            </a:r>
            <a:endParaRPr lang="en-US" sz="1400" dirty="0"/>
          </a:p>
        </p:txBody>
      </p:sp>
      <p:sp>
        <p:nvSpPr>
          <p:cNvPr id="32" name="Gantt bar 6"/>
          <p:cNvSpPr/>
          <p:nvPr/>
        </p:nvSpPr>
        <p:spPr>
          <a:xfrm>
            <a:off x="7367451" y="3867912"/>
            <a:ext cx="482673" cy="237744"/>
          </a:xfrm>
          <a:prstGeom prst="roundRect">
            <a:avLst>
              <a:gd name="adj" fmla="val 30769"/>
            </a:avLst>
          </a:prstGeom>
          <a:solidFill>
            <a:schemeClr val="accent2"/>
          </a:solidFill>
          <a:ln/>
        </p:spPr>
      </p:sp>
      <p:sp>
        <p:nvSpPr>
          <p:cNvPr id="33" name="Row band 7"/>
          <p:cNvSpPr/>
          <p:nvPr/>
        </p:nvSpPr>
        <p:spPr>
          <a:xfrm>
            <a:off x="548640" y="4178808"/>
            <a:ext cx="11091672" cy="38404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4" name="Gantt label 7"/>
          <p:cNvSpPr txBox="1"/>
          <p:nvPr/>
        </p:nvSpPr>
        <p:spPr>
          <a:xfrm>
            <a:off x="685800" y="41788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Case report</a:t>
            </a:r>
            <a:endParaRPr lang="en-US" sz="1400" dirty="0"/>
          </a:p>
        </p:txBody>
      </p:sp>
      <p:sp>
        <p:nvSpPr>
          <p:cNvPr id="35" name="Gantt bar 7"/>
          <p:cNvSpPr/>
          <p:nvPr/>
        </p:nvSpPr>
        <p:spPr>
          <a:xfrm>
            <a:off x="7904988" y="4251960"/>
            <a:ext cx="482673" cy="237744"/>
          </a:xfrm>
          <a:prstGeom prst="roundRect">
            <a:avLst>
              <a:gd name="adj" fmla="val 30769"/>
            </a:avLst>
          </a:prstGeom>
          <a:solidFill>
            <a:schemeClr val="accent2"/>
          </a:solidFill>
          <a:ln/>
        </p:spPr>
      </p:sp>
      <p:sp>
        <p:nvSpPr>
          <p:cNvPr id="36" name="Gantt label 8"/>
          <p:cNvSpPr txBox="1"/>
          <p:nvPr/>
        </p:nvSpPr>
        <p:spPr>
          <a:xfrm>
            <a:off x="685800" y="45628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Security hardening</a:t>
            </a:r>
            <a:endParaRPr lang="en-US" sz="1400" dirty="0"/>
          </a:p>
        </p:txBody>
      </p:sp>
      <p:sp>
        <p:nvSpPr>
          <p:cNvPr id="37" name="Gantt bar 8"/>
          <p:cNvSpPr/>
          <p:nvPr/>
        </p:nvSpPr>
        <p:spPr>
          <a:xfrm>
            <a:off x="8442525" y="4636008"/>
            <a:ext cx="482673" cy="237744"/>
          </a:xfrm>
          <a:prstGeom prst="roundRect">
            <a:avLst>
              <a:gd name="adj" fmla="val 30769"/>
            </a:avLst>
          </a:prstGeom>
          <a:solidFill>
            <a:schemeClr val="accent1"/>
          </a:solidFill>
          <a:ln/>
        </p:spPr>
      </p:sp>
      <p:sp>
        <p:nvSpPr>
          <p:cNvPr id="38" name="Row band 9"/>
          <p:cNvSpPr/>
          <p:nvPr/>
        </p:nvSpPr>
        <p:spPr>
          <a:xfrm>
            <a:off x="548640" y="4946904"/>
            <a:ext cx="11091672" cy="38404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9" name="Gantt label 9"/>
          <p:cNvSpPr txBox="1"/>
          <p:nvPr/>
        </p:nvSpPr>
        <p:spPr>
          <a:xfrm>
            <a:off x="685800" y="494690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UI, deployment and CI</a:t>
            </a:r>
            <a:endParaRPr lang="en-US" sz="1400" dirty="0"/>
          </a:p>
        </p:txBody>
      </p:sp>
      <p:sp>
        <p:nvSpPr>
          <p:cNvPr id="40" name="Gantt bar 9"/>
          <p:cNvSpPr/>
          <p:nvPr/>
        </p:nvSpPr>
        <p:spPr>
          <a:xfrm>
            <a:off x="8980061" y="5020056"/>
            <a:ext cx="1557746" cy="237744"/>
          </a:xfrm>
          <a:prstGeom prst="roundRect">
            <a:avLst>
              <a:gd name="adj" fmla="val 30769"/>
            </a:avLst>
          </a:prstGeom>
          <a:solidFill>
            <a:schemeClr val="accent1"/>
          </a:solidFill>
          <a:ln/>
        </p:spPr>
      </p:sp>
      <p:sp>
        <p:nvSpPr>
          <p:cNvPr id="41" name="Gantt label 10"/>
          <p:cNvSpPr txBox="1"/>
          <p:nvPr/>
        </p:nvSpPr>
        <p:spPr>
          <a:xfrm>
            <a:off x="685800" y="533095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Documentation and release</a:t>
            </a:r>
            <a:endParaRPr lang="en-US" sz="1400" dirty="0"/>
          </a:p>
        </p:txBody>
      </p:sp>
      <p:sp>
        <p:nvSpPr>
          <p:cNvPr id="42" name="Gantt bar 10"/>
          <p:cNvSpPr/>
          <p:nvPr/>
        </p:nvSpPr>
        <p:spPr>
          <a:xfrm>
            <a:off x="10592671" y="5404104"/>
            <a:ext cx="1020209" cy="237744"/>
          </a:xfrm>
          <a:prstGeom prst="roundRect">
            <a:avLst>
              <a:gd name="adj" fmla="val 30769"/>
            </a:avLst>
          </a:prstGeom>
          <a:solidFill>
            <a:schemeClr val="accent3"/>
          </a:solidFill>
          <a:ln/>
        </p:spPr>
      </p:sp>
      <p:sp>
        <p:nvSpPr>
          <p:cNvPr id="43" name="Legend swatch Build"/>
          <p:cNvSpPr/>
          <p:nvPr/>
        </p:nvSpPr>
        <p:spPr>
          <a:xfrm>
            <a:off x="4114800" y="5897880"/>
            <a:ext cx="274320" cy="18288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44" name="Legend Build"/>
          <p:cNvSpPr txBox="1"/>
          <p:nvPr/>
        </p:nvSpPr>
        <p:spPr>
          <a:xfrm>
            <a:off x="4480560" y="5852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Build</a:t>
            </a:r>
            <a:endParaRPr lang="en-US" sz="1200" dirty="0"/>
          </a:p>
        </p:txBody>
      </p:sp>
      <p:sp>
        <p:nvSpPr>
          <p:cNvPr id="45" name="Legend swatch Security and delivery"/>
          <p:cNvSpPr/>
          <p:nvPr/>
        </p:nvSpPr>
        <p:spPr>
          <a:xfrm>
            <a:off x="5669280" y="5897880"/>
            <a:ext cx="274320" cy="18288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46" name="Legend Security and delivery"/>
          <p:cNvSpPr txBox="1"/>
          <p:nvPr/>
        </p:nvSpPr>
        <p:spPr>
          <a:xfrm>
            <a:off x="6035040" y="5852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Security and delivery</a:t>
            </a:r>
            <a:endParaRPr lang="en-US" sz="1200" dirty="0"/>
          </a:p>
        </p:txBody>
      </p:sp>
      <p:sp>
        <p:nvSpPr>
          <p:cNvPr id="47" name="Legend swatch Documentation"/>
          <p:cNvSpPr/>
          <p:nvPr/>
        </p:nvSpPr>
        <p:spPr>
          <a:xfrm>
            <a:off x="8321040" y="5897880"/>
            <a:ext cx="274320" cy="18288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</p:sp>
      <p:sp>
        <p:nvSpPr>
          <p:cNvPr id="48" name="Legend Documentation"/>
          <p:cNvSpPr txBox="1"/>
          <p:nvPr/>
        </p:nvSpPr>
        <p:spPr>
          <a:xfrm>
            <a:off x="8686800" y="5852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Documentation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Quality is measured, not assumed</a:t>
            </a:r>
            <a:endParaRPr lang="en-US" sz="3400" dirty="0"/>
          </a:p>
        </p:txBody>
      </p:sp>
      <p:sp>
        <p:nvSpPr>
          <p:cNvPr id="3" name="FaVial circle"/>
          <p:cNvSpPr/>
          <p:nvPr/>
        </p:nvSpPr>
        <p:spPr>
          <a:xfrm>
            <a:off x="548640" y="155448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" name="FaVial" descr="Vial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117" y="1714957"/>
            <a:ext cx="273406" cy="273406"/>
          </a:xfrm>
          <a:prstGeom prst="rect">
            <a:avLst/>
          </a:prstGeom>
        </p:spPr>
      </p:pic>
      <p:sp>
        <p:nvSpPr>
          <p:cNvPr id="5" name="Layer label 1"/>
          <p:cNvSpPr txBox="1"/>
          <p:nvPr/>
        </p:nvSpPr>
        <p:spPr>
          <a:xfrm>
            <a:off x="1371600" y="1508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Unit and route tests</a:t>
            </a:r>
            <a:endParaRPr lang="en-US" sz="1800" dirty="0"/>
          </a:p>
        </p:txBody>
      </p:sp>
      <p:sp>
        <p:nvSpPr>
          <p:cNvPr id="6" name="Layer text 1"/>
          <p:cNvSpPr txBox="1"/>
          <p:nvPr/>
        </p:nvSpPr>
        <p:spPr>
          <a:xfrm>
            <a:off x="1371600" y="18928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pytest for authentication, cases, evidence and custody logic</a:t>
            </a:r>
            <a:endParaRPr lang="en-US" sz="1400" dirty="0"/>
          </a:p>
        </p:txBody>
      </p:sp>
      <p:sp>
        <p:nvSpPr>
          <p:cNvPr id="7" name="FaLock circle"/>
          <p:cNvSpPr/>
          <p:nvPr/>
        </p:nvSpPr>
        <p:spPr>
          <a:xfrm>
            <a:off x="548640" y="246888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FaLock" descr="Lo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17" y="2629357"/>
            <a:ext cx="273406" cy="273406"/>
          </a:xfrm>
          <a:prstGeom prst="rect">
            <a:avLst/>
          </a:prstGeom>
        </p:spPr>
      </p:pic>
      <p:sp>
        <p:nvSpPr>
          <p:cNvPr id="9" name="Layer label 2"/>
          <p:cNvSpPr txBox="1"/>
          <p:nvPr/>
        </p:nvSpPr>
        <p:spPr>
          <a:xfrm>
            <a:off x="1371600" y="24231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Security tests</a:t>
            </a:r>
            <a:endParaRPr lang="en-US" sz="1800" dirty="0"/>
          </a:p>
        </p:txBody>
      </p:sp>
      <p:sp>
        <p:nvSpPr>
          <p:cNvPr id="10" name="Layer text 2"/>
          <p:cNvSpPr txBox="1"/>
          <p:nvPr/>
        </p:nvSpPr>
        <p:spPr>
          <a:xfrm>
            <a:off x="1371600" y="28072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Lockout, headers, secret key and CSRF on every POST route</a:t>
            </a:r>
            <a:endParaRPr lang="en-US" sz="1400" dirty="0"/>
          </a:p>
        </p:txBody>
      </p:sp>
      <p:sp>
        <p:nvSpPr>
          <p:cNvPr id="11" name="FaBug circle"/>
          <p:cNvSpPr/>
          <p:nvPr/>
        </p:nvSpPr>
        <p:spPr>
          <a:xfrm>
            <a:off x="548640" y="338328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FaBug" descr="Bug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17" y="3543757"/>
            <a:ext cx="273406" cy="273406"/>
          </a:xfrm>
          <a:prstGeom prst="rect">
            <a:avLst/>
          </a:prstGeom>
        </p:spPr>
      </p:pic>
      <p:sp>
        <p:nvSpPr>
          <p:cNvPr id="13" name="Layer label 3"/>
          <p:cNvSpPr txBox="1"/>
          <p:nvPr/>
        </p:nvSpPr>
        <p:spPr>
          <a:xfrm>
            <a:off x="1371600" y="33375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Tamper tests</a:t>
            </a:r>
            <a:endParaRPr lang="en-US" sz="1800" dirty="0"/>
          </a:p>
        </p:txBody>
      </p:sp>
      <p:sp>
        <p:nvSpPr>
          <p:cNvPr id="14" name="Layer text 3"/>
          <p:cNvSpPr txBox="1"/>
          <p:nvPr/>
        </p:nvSpPr>
        <p:spPr>
          <a:xfrm>
            <a:off x="1371600" y="37216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Alter a stored file or edit a log row and expect FAIL</a:t>
            </a:r>
            <a:endParaRPr lang="en-US" sz="1400" dirty="0"/>
          </a:p>
        </p:txBody>
      </p:sp>
      <p:sp>
        <p:nvSpPr>
          <p:cNvPr id="15" name="FaSearch circle"/>
          <p:cNvSpPr/>
          <p:nvPr/>
        </p:nvSpPr>
        <p:spPr>
          <a:xfrm>
            <a:off x="548640" y="429768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FaSearch" descr="Search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17" y="4458157"/>
            <a:ext cx="273406" cy="273406"/>
          </a:xfrm>
          <a:prstGeom prst="rect">
            <a:avLst/>
          </a:prstGeom>
        </p:spPr>
      </p:pic>
      <p:sp>
        <p:nvSpPr>
          <p:cNvPr id="17" name="Layer label 4"/>
          <p:cNvSpPr txBox="1"/>
          <p:nvPr/>
        </p:nvSpPr>
        <p:spPr>
          <a:xfrm>
            <a:off x="1371600" y="4251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Manual testing</a:t>
            </a:r>
            <a:endParaRPr lang="en-US" sz="1800" dirty="0"/>
          </a:p>
        </p:txBody>
      </p:sp>
      <p:sp>
        <p:nvSpPr>
          <p:cNvPr id="18" name="Layer text 4"/>
          <p:cNvSpPr txBox="1"/>
          <p:nvPr/>
        </p:nvSpPr>
        <p:spPr>
          <a:xfrm>
            <a:off x="1371600" y="46360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Walk each feature in a browser and capture screenshots</a:t>
            </a:r>
            <a:endParaRPr lang="en-US" sz="1400" dirty="0"/>
          </a:p>
        </p:txBody>
      </p:sp>
      <p:sp>
        <p:nvSpPr>
          <p:cNvPr id="19" name="FaSyncAlt circle"/>
          <p:cNvSpPr/>
          <p:nvPr/>
        </p:nvSpPr>
        <p:spPr>
          <a:xfrm>
            <a:off x="548640" y="521208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FaSyncAlt" descr="SyncAl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17" y="5372557"/>
            <a:ext cx="273406" cy="273406"/>
          </a:xfrm>
          <a:prstGeom prst="rect">
            <a:avLst/>
          </a:prstGeom>
        </p:spPr>
      </p:pic>
      <p:sp>
        <p:nvSpPr>
          <p:cNvPr id="21" name="Layer label 5"/>
          <p:cNvSpPr txBox="1"/>
          <p:nvPr/>
        </p:nvSpPr>
        <p:spPr>
          <a:xfrm>
            <a:off x="1371600" y="51663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Continuous integration</a:t>
            </a:r>
            <a:endParaRPr lang="en-US" sz="1800" dirty="0"/>
          </a:p>
        </p:txBody>
      </p:sp>
      <p:sp>
        <p:nvSpPr>
          <p:cNvPr id="22" name="Layer text 5"/>
          <p:cNvSpPr txBox="1"/>
          <p:nvPr/>
        </p:nvSpPr>
        <p:spPr>
          <a:xfrm>
            <a:off x="1371600" y="55504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Full suite and a secrets check on every push</a:t>
            </a:r>
            <a:endParaRPr lang="en-US" sz="1400" dirty="0"/>
          </a:p>
        </p:txBody>
      </p:sp>
      <p:sp>
        <p:nvSpPr>
          <p:cNvPr id="23" name="Stat card 1"/>
          <p:cNvSpPr/>
          <p:nvPr/>
        </p:nvSpPr>
        <p:spPr>
          <a:xfrm>
            <a:off x="8046720" y="1463040"/>
            <a:ext cx="359359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24" name="Stat number 1"/>
          <p:cNvSpPr txBox="1"/>
          <p:nvPr/>
        </p:nvSpPr>
        <p:spPr>
          <a:xfrm>
            <a:off x="8321040" y="15727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90%+</a:t>
            </a:r>
            <a:endParaRPr lang="en-US" sz="4800" dirty="0"/>
          </a:p>
        </p:txBody>
      </p:sp>
      <p:sp>
        <p:nvSpPr>
          <p:cNvPr id="25" name="Stat label 1"/>
          <p:cNvSpPr txBox="1"/>
          <p:nvPr/>
        </p:nvSpPr>
        <p:spPr>
          <a:xfrm>
            <a:off x="8321040" y="23591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statement coverage target</a:t>
            </a:r>
            <a:endParaRPr lang="en-US" sz="1400" dirty="0"/>
          </a:p>
        </p:txBody>
      </p:sp>
      <p:sp>
        <p:nvSpPr>
          <p:cNvPr id="26" name="Stat card 2"/>
          <p:cNvSpPr/>
          <p:nvPr/>
        </p:nvSpPr>
        <p:spPr>
          <a:xfrm>
            <a:off x="8046720" y="3063240"/>
            <a:ext cx="359359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27" name="Stat number 2"/>
          <p:cNvSpPr txBox="1"/>
          <p:nvPr/>
        </p:nvSpPr>
        <p:spPr>
          <a:xfrm>
            <a:off x="8321040" y="31729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800" dirty="0"/>
          </a:p>
        </p:txBody>
      </p:sp>
      <p:sp>
        <p:nvSpPr>
          <p:cNvPr id="28" name="Stat label 2"/>
          <p:cNvSpPr txBox="1"/>
          <p:nvPr/>
        </p:nvSpPr>
        <p:spPr>
          <a:xfrm>
            <a:off x="8321040" y="39593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of POST routes must reject a missing CSRF token</a:t>
            </a:r>
            <a:endParaRPr lang="en-US" sz="1400" dirty="0"/>
          </a:p>
        </p:txBody>
      </p:sp>
      <p:sp>
        <p:nvSpPr>
          <p:cNvPr id="29" name="Stat card 3"/>
          <p:cNvSpPr/>
          <p:nvPr/>
        </p:nvSpPr>
        <p:spPr>
          <a:xfrm>
            <a:off x="8046720" y="4663440"/>
            <a:ext cx="359359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30" name="Stat number 3"/>
          <p:cNvSpPr txBox="1"/>
          <p:nvPr/>
        </p:nvSpPr>
        <p:spPr>
          <a:xfrm>
            <a:off x="8321040" y="47731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31" name="Stat label 3"/>
          <p:cNvSpPr txBox="1"/>
          <p:nvPr/>
        </p:nvSpPr>
        <p:spPr>
          <a:xfrm>
            <a:off x="8321040" y="55595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secrets allowed in the repository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Main risks and how they are handled</a:t>
            </a:r>
            <a:endParaRPr lang="en-US" sz="3400" dirty="0"/>
          </a:p>
        </p:txBody>
      </p:sp>
      <p:graphicFrame>
        <p:nvGraphicFramePr>
          <p:cNvPr id="17" name="Ri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280160"/>
                <a:gridCol w="1280160"/>
                <a:gridCol w="48737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Likelihood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D3D"/>
                          </a:solidFill>
                        </a:rPr>
                        <a:t>Fourteen days is tight for a solo build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42318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42318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Small vertical steps; optional work such as admin screens is deferred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D3D"/>
                          </a:solidFill>
                        </a:rPr>
                        <a:t>Claiming the system is tamper-proof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A5A00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42318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State limits openly; print the latest log hash for offline comparison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D3D"/>
                          </a:solidFill>
                        </a:rPr>
                        <a:t>Secrets leaked into the repository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A5A00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42318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Git-ignored .env, placeholder example file, automatic check in CI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D3D"/>
                          </a:solidFill>
                        </a:rPr>
                        <a:t>Free hosting limits: one worker, no backups, expiry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42318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A5A00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Demo data only; extend the expiry; document the limits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D3D"/>
                          </a:solidFill>
                        </a:rPr>
                        <a:t>A new feature breaks an old one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A5A00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A5A00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Automated tests and CI; one branch per step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D3D"/>
                          </a:solidFill>
                        </a:rPr>
                        <a:t>Windows development, Linux host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7F37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A5A00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CI runs on Linux; deploy early to find differences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Deliverables and success criteria</a:t>
            </a:r>
            <a:endParaRPr lang="en-US" sz="3400" dirty="0"/>
          </a:p>
        </p:txBody>
      </p:sp>
      <p:sp>
        <p:nvSpPr>
          <p:cNvPr id="3" name="Deliverables panel"/>
          <p:cNvSpPr/>
          <p:nvPr/>
        </p:nvSpPr>
        <p:spPr>
          <a:xfrm>
            <a:off x="548640" y="1463040"/>
            <a:ext cx="512064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4" name="Deliverables heading"/>
          <p:cNvSpPr txBox="1"/>
          <p:nvPr/>
        </p:nvSpPr>
        <p:spPr>
          <a:xfrm>
            <a:off x="82296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Deliverables</a:t>
            </a:r>
            <a:endParaRPr lang="en-US" sz="2000" dirty="0"/>
          </a:p>
        </p:txBody>
      </p:sp>
      <p:sp>
        <p:nvSpPr>
          <p:cNvPr id="5" name="FaCheck circle"/>
          <p:cNvSpPr/>
          <p:nvPr/>
        </p:nvSpPr>
        <p:spPr>
          <a:xfrm>
            <a:off x="822960" y="2414016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FaCheck" descr="Che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902" y="2497958"/>
            <a:ext cx="143012" cy="143012"/>
          </a:xfrm>
          <a:prstGeom prst="rect">
            <a:avLst/>
          </a:prstGeom>
        </p:spPr>
      </p:pic>
      <p:sp>
        <p:nvSpPr>
          <p:cNvPr id="7" name="Deliverable 1"/>
          <p:cNvSpPr txBox="1"/>
          <p:nvPr/>
        </p:nvSpPr>
        <p:spPr>
          <a:xfrm>
            <a:off x="1325880" y="23774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Source code and tests on GitHub</a:t>
            </a:r>
            <a:endParaRPr lang="en-US" sz="1500" dirty="0"/>
          </a:p>
        </p:txBody>
      </p:sp>
      <p:sp>
        <p:nvSpPr>
          <p:cNvPr id="8" name="FaCheck circle"/>
          <p:cNvSpPr/>
          <p:nvPr/>
        </p:nvSpPr>
        <p:spPr>
          <a:xfrm>
            <a:off x="822960" y="2916936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FaCheck" descr="Che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02" y="3000878"/>
            <a:ext cx="143012" cy="143012"/>
          </a:xfrm>
          <a:prstGeom prst="rect">
            <a:avLst/>
          </a:prstGeom>
        </p:spPr>
      </p:pic>
      <p:sp>
        <p:nvSpPr>
          <p:cNvPr id="10" name="Deliverable 2"/>
          <p:cNvSpPr txBox="1"/>
          <p:nvPr/>
        </p:nvSpPr>
        <p:spPr>
          <a:xfrm>
            <a:off x="1325880" y="28803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Live deployment over HTTPS</a:t>
            </a:r>
            <a:endParaRPr lang="en-US" sz="1500" dirty="0"/>
          </a:p>
        </p:txBody>
      </p:sp>
      <p:sp>
        <p:nvSpPr>
          <p:cNvPr id="11" name="FaCheck circle"/>
          <p:cNvSpPr/>
          <p:nvPr/>
        </p:nvSpPr>
        <p:spPr>
          <a:xfrm>
            <a:off x="822960" y="3419856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FaCheck" descr="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902" y="3503798"/>
            <a:ext cx="143012" cy="143012"/>
          </a:xfrm>
          <a:prstGeom prst="rect">
            <a:avLst/>
          </a:prstGeom>
        </p:spPr>
      </p:pic>
      <p:sp>
        <p:nvSpPr>
          <p:cNvPr id="13" name="Deliverable 3"/>
          <p:cNvSpPr txBox="1"/>
          <p:nvPr/>
        </p:nvSpPr>
        <p:spPr>
          <a:xfrm>
            <a:off x="1325880" y="33832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Threat model with a status per threat</a:t>
            </a:r>
            <a:endParaRPr lang="en-US" sz="1500" dirty="0"/>
          </a:p>
        </p:txBody>
      </p:sp>
      <p:sp>
        <p:nvSpPr>
          <p:cNvPr id="14" name="FaCheck circle"/>
          <p:cNvSpPr/>
          <p:nvPr/>
        </p:nvSpPr>
        <p:spPr>
          <a:xfrm>
            <a:off x="822960" y="3922776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FaCheck" descr="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902" y="4006718"/>
            <a:ext cx="143012" cy="143012"/>
          </a:xfrm>
          <a:prstGeom prst="rect">
            <a:avLst/>
          </a:prstGeom>
        </p:spPr>
      </p:pic>
      <p:sp>
        <p:nvSpPr>
          <p:cNvPr id="16" name="Deliverable 4"/>
          <p:cNvSpPr txBox="1"/>
          <p:nvPr/>
        </p:nvSpPr>
        <p:spPr>
          <a:xfrm>
            <a:off x="1325880" y="38862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Development log with screenshots</a:t>
            </a:r>
            <a:endParaRPr lang="en-US" sz="1500" dirty="0"/>
          </a:p>
        </p:txBody>
      </p:sp>
      <p:sp>
        <p:nvSpPr>
          <p:cNvPr id="17" name="FaCheck circle"/>
          <p:cNvSpPr/>
          <p:nvPr/>
        </p:nvSpPr>
        <p:spPr>
          <a:xfrm>
            <a:off x="822960" y="4425696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FaCheck" descr="Chec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902" y="4509638"/>
            <a:ext cx="143012" cy="143012"/>
          </a:xfrm>
          <a:prstGeom prst="rect">
            <a:avLst/>
          </a:prstGeom>
        </p:spPr>
      </p:pic>
      <p:sp>
        <p:nvSpPr>
          <p:cNvPr id="19" name="Deliverable 5"/>
          <p:cNvSpPr txBox="1"/>
          <p:nvPr/>
        </p:nvSpPr>
        <p:spPr>
          <a:xfrm>
            <a:off x="1325880" y="43891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Case report PDF from the live system</a:t>
            </a:r>
            <a:endParaRPr lang="en-US" sz="1500" dirty="0"/>
          </a:p>
        </p:txBody>
      </p:sp>
      <p:sp>
        <p:nvSpPr>
          <p:cNvPr id="20" name="FaCheck circle"/>
          <p:cNvSpPr/>
          <p:nvPr/>
        </p:nvSpPr>
        <p:spPr>
          <a:xfrm>
            <a:off x="822960" y="4928616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FaCheck" descr="Che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902" y="5012558"/>
            <a:ext cx="143012" cy="143012"/>
          </a:xfrm>
          <a:prstGeom prst="rect">
            <a:avLst/>
          </a:prstGeom>
        </p:spPr>
      </p:pic>
      <p:sp>
        <p:nvSpPr>
          <p:cNvPr id="22" name="Deliverable 6"/>
          <p:cNvSpPr txBox="1"/>
          <p:nvPr/>
        </p:nvSpPr>
        <p:spPr>
          <a:xfrm>
            <a:off x="1325880" y="48920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Final documentation (Word)</a:t>
            </a:r>
            <a:endParaRPr lang="en-US" sz="1500" dirty="0"/>
          </a:p>
        </p:txBody>
      </p:sp>
      <p:sp>
        <p:nvSpPr>
          <p:cNvPr id="23" name="FaCheck circle"/>
          <p:cNvSpPr/>
          <p:nvPr/>
        </p:nvSpPr>
        <p:spPr>
          <a:xfrm>
            <a:off x="822960" y="5431536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FaCheck" descr="Check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902" y="5515478"/>
            <a:ext cx="143012" cy="143012"/>
          </a:xfrm>
          <a:prstGeom prst="rect">
            <a:avLst/>
          </a:prstGeom>
        </p:spPr>
      </p:pic>
      <p:sp>
        <p:nvSpPr>
          <p:cNvPr id="25" name="Deliverable 7"/>
          <p:cNvSpPr txBox="1"/>
          <p:nvPr/>
        </p:nvSpPr>
        <p:spPr>
          <a:xfrm>
            <a:off x="1325880" y="53949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Tagged v1.0.0 release</a:t>
            </a:r>
            <a:endParaRPr lang="en-US" sz="1500" dirty="0"/>
          </a:p>
        </p:txBody>
      </p:sp>
      <p:sp>
        <p:nvSpPr>
          <p:cNvPr id="26" name="Success panel"/>
          <p:cNvSpPr/>
          <p:nvPr/>
        </p:nvSpPr>
        <p:spPr>
          <a:xfrm>
            <a:off x="5879592" y="1463040"/>
            <a:ext cx="576072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27" name="Success heading"/>
          <p:cNvSpPr txBox="1"/>
          <p:nvPr/>
        </p:nvSpPr>
        <p:spPr>
          <a:xfrm>
            <a:off x="6153912" y="16916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Success criteria</a:t>
            </a:r>
            <a:endParaRPr lang="en-US" sz="2000" dirty="0"/>
          </a:p>
        </p:txBody>
      </p:sp>
      <p:sp>
        <p:nvSpPr>
          <p:cNvPr id="28" name="FaFlag circle"/>
          <p:cNvSpPr/>
          <p:nvPr/>
        </p:nvSpPr>
        <p:spPr>
          <a:xfrm>
            <a:off x="6153912" y="2432304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9" name="FaFlag" descr="Flag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7854" y="2516246"/>
            <a:ext cx="143012" cy="143012"/>
          </a:xfrm>
          <a:prstGeom prst="rect">
            <a:avLst/>
          </a:prstGeom>
        </p:spPr>
      </p:pic>
      <p:sp>
        <p:nvSpPr>
          <p:cNvPr id="30" name="Criterion 1"/>
          <p:cNvSpPr txBox="1"/>
          <p:nvPr/>
        </p:nvSpPr>
        <p:spPr>
          <a:xfrm>
            <a:off x="6656832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modified file shows FAIL and its download is blocked</a:t>
            </a:r>
            <a:endParaRPr lang="en-US" sz="1500" dirty="0"/>
          </a:p>
        </p:txBody>
      </p:sp>
      <p:sp>
        <p:nvSpPr>
          <p:cNvPr id="31" name="FaFlag circle"/>
          <p:cNvSpPr/>
          <p:nvPr/>
        </p:nvSpPr>
        <p:spPr>
          <a:xfrm>
            <a:off x="6153912" y="3017520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2" name="FaFlag" descr="Flag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7854" y="3101462"/>
            <a:ext cx="143012" cy="143012"/>
          </a:xfrm>
          <a:prstGeom prst="rect">
            <a:avLst/>
          </a:prstGeom>
        </p:spPr>
      </p:pic>
      <p:sp>
        <p:nvSpPr>
          <p:cNvPr id="33" name="Criterion 2"/>
          <p:cNvSpPr txBox="1"/>
          <p:nvPr/>
        </p:nvSpPr>
        <p:spPr>
          <a:xfrm>
            <a:off x="6656832" y="296265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 edited log row shows CHAIN BROKEN</a:t>
            </a:r>
            <a:endParaRPr lang="en-US" sz="1500" dirty="0"/>
          </a:p>
        </p:txBody>
      </p:sp>
      <p:sp>
        <p:nvSpPr>
          <p:cNvPr id="34" name="FaFlag circle"/>
          <p:cNvSpPr/>
          <p:nvPr/>
        </p:nvSpPr>
        <p:spPr>
          <a:xfrm>
            <a:off x="6153912" y="3602736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5" name="FaFlag" descr="Flag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7854" y="3686678"/>
            <a:ext cx="143012" cy="143012"/>
          </a:xfrm>
          <a:prstGeom prst="rect">
            <a:avLst/>
          </a:prstGeom>
        </p:spPr>
      </p:pic>
      <p:sp>
        <p:nvSpPr>
          <p:cNvPr id="36" name="Criterion 3"/>
          <p:cNvSpPr txBox="1"/>
          <p:nvPr/>
        </p:nvSpPr>
        <p:spPr>
          <a:xfrm>
            <a:off x="6656832" y="35478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POST route rejects a request without a CSRF token</a:t>
            </a:r>
            <a:endParaRPr lang="en-US" sz="1500" dirty="0"/>
          </a:p>
        </p:txBody>
      </p:sp>
      <p:sp>
        <p:nvSpPr>
          <p:cNvPr id="37" name="FaFlag circle"/>
          <p:cNvSpPr/>
          <p:nvPr/>
        </p:nvSpPr>
        <p:spPr>
          <a:xfrm>
            <a:off x="6153912" y="4187952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8" name="FaFlag" descr="Flag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7854" y="4271894"/>
            <a:ext cx="143012" cy="143012"/>
          </a:xfrm>
          <a:prstGeom prst="rect">
            <a:avLst/>
          </a:prstGeom>
        </p:spPr>
      </p:pic>
      <p:sp>
        <p:nvSpPr>
          <p:cNvPr id="39" name="Criterion 4"/>
          <p:cNvSpPr txBox="1"/>
          <p:nvPr/>
        </p:nvSpPr>
        <p:spPr>
          <a:xfrm>
            <a:off x="6656832" y="41330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Five failed logins lock the account for ten minutes</a:t>
            </a:r>
            <a:endParaRPr lang="en-US" sz="1500" dirty="0"/>
          </a:p>
        </p:txBody>
      </p:sp>
      <p:sp>
        <p:nvSpPr>
          <p:cNvPr id="40" name="FaFlag circle"/>
          <p:cNvSpPr/>
          <p:nvPr/>
        </p:nvSpPr>
        <p:spPr>
          <a:xfrm>
            <a:off x="6153912" y="4773168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1" name="FaFlag" descr="Flag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37854" y="4857110"/>
            <a:ext cx="143012" cy="143012"/>
          </a:xfrm>
          <a:prstGeom prst="rect">
            <a:avLst/>
          </a:prstGeom>
        </p:spPr>
      </p:pic>
      <p:sp>
        <p:nvSpPr>
          <p:cNvPr id="42" name="Criterion 5"/>
          <p:cNvSpPr txBox="1"/>
          <p:nvPr/>
        </p:nvSpPr>
        <p:spPr>
          <a:xfrm>
            <a:off x="6656832" y="47183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Coverage of 90% or more with CI passing</a:t>
            </a:r>
            <a:endParaRPr lang="en-US" sz="1500" dirty="0"/>
          </a:p>
        </p:txBody>
      </p:sp>
      <p:sp>
        <p:nvSpPr>
          <p:cNvPr id="43" name="FaFlag circle"/>
          <p:cNvSpPr/>
          <p:nvPr/>
        </p:nvSpPr>
        <p:spPr>
          <a:xfrm>
            <a:off x="6153912" y="5358384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4" name="FaFlag" descr="Flag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37854" y="5442326"/>
            <a:ext cx="143012" cy="143012"/>
          </a:xfrm>
          <a:prstGeom prst="rect">
            <a:avLst/>
          </a:prstGeom>
        </p:spPr>
      </p:pic>
      <p:sp>
        <p:nvSpPr>
          <p:cNvPr id="45" name="Criterion 6"/>
          <p:cNvSpPr txBox="1"/>
          <p:nvPr/>
        </p:nvSpPr>
        <p:spPr>
          <a:xfrm>
            <a:off x="6656832" y="5303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Site served over HTTPS with security headers present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Responsible use and honest limits</a:t>
            </a:r>
            <a:endParaRPr lang="en-US" sz="3400" dirty="0"/>
          </a:p>
        </p:txBody>
      </p:sp>
      <p:sp>
        <p:nvSpPr>
          <p:cNvPr id="3" name="Ethics and data handling panel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4" name="FaBalanceScale circle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FaBalanceScale" descr="BalanceSca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1839773"/>
            <a:ext cx="252374" cy="252374"/>
          </a:xfrm>
          <a:prstGeom prst="rect">
            <a:avLst/>
          </a:prstGeom>
        </p:spPr>
      </p:pic>
      <p:sp>
        <p:nvSpPr>
          <p:cNvPr id="6" name="Ethics and data handling heading"/>
          <p:cNvSpPr txBox="1"/>
          <p:nvPr/>
        </p:nvSpPr>
        <p:spPr>
          <a:xfrm>
            <a:off x="1554480" y="1691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Ethics and data handling</a:t>
            </a:r>
            <a:endParaRPr lang="en-US" sz="2000" dirty="0"/>
          </a:p>
        </p:txBody>
      </p:sp>
      <p:sp>
        <p:nvSpPr>
          <p:cNvPr id="7" name="Ethics and data handling list"/>
          <p:cNvSpPr txBox="1"/>
          <p:nvPr/>
        </p:nvSpPr>
        <p:spPr>
          <a:xfrm>
            <a:off x="822960" y="25603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Demo data only; no real case material is stored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Passwords are salted and hashed; no other personal data is kept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hash shows a file is unchanged since upload, not that it was genuine when collected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EviTrack is a learning project, not certified forensic software</a:t>
            </a:r>
            <a:endParaRPr lang="en-US" sz="1500" dirty="0"/>
          </a:p>
        </p:txBody>
      </p:sp>
      <p:sp>
        <p:nvSpPr>
          <p:cNvPr id="8" name="Limits declared up front panel"/>
          <p:cNvSpPr/>
          <p:nvPr/>
        </p:nvSpPr>
        <p:spPr>
          <a:xfrm>
            <a:off x="6245352" y="1463040"/>
            <a:ext cx="539496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9" name="FaExclamationTriangle circle"/>
          <p:cNvSpPr/>
          <p:nvPr/>
        </p:nvSpPr>
        <p:spPr>
          <a:xfrm>
            <a:off x="6519672" y="16916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FaExclamationTriangle" descr="ExclamationTriang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5" y="1839773"/>
            <a:ext cx="252374" cy="252374"/>
          </a:xfrm>
          <a:prstGeom prst="rect">
            <a:avLst/>
          </a:prstGeom>
        </p:spPr>
      </p:pic>
      <p:sp>
        <p:nvSpPr>
          <p:cNvPr id="11" name="Limits declared up front heading"/>
          <p:cNvSpPr txBox="1"/>
          <p:nvPr/>
        </p:nvSpPr>
        <p:spPr>
          <a:xfrm>
            <a:off x="7251192" y="1691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Limits declared up front</a:t>
            </a:r>
            <a:endParaRPr lang="en-US" sz="2000" dirty="0"/>
          </a:p>
        </p:txBody>
      </p:sp>
      <p:sp>
        <p:nvSpPr>
          <p:cNvPr id="12" name="Limits declared up front list"/>
          <p:cNvSpPr txBox="1"/>
          <p:nvPr/>
        </p:nvSpPr>
        <p:spPr>
          <a:xfrm>
            <a:off x="6519672" y="25603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Deleting the newest log entries cannot be detected inside the database; the printed latest hash exposes it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File types are checked by extension, not by content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Lockout is per username, so a known user can be locked out for ten minutes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Free hosting: one worker, no backups, monthly expiry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Proposal versus delivery</a:t>
            </a:r>
            <a:endParaRPr lang="en-US" sz="3400" dirty="0"/>
          </a:p>
        </p:txBody>
      </p:sp>
      <p:sp>
        <p:nvSpPr>
          <p:cNvPr id="3" name="Delivery stat 1"/>
          <p:cNvSpPr/>
          <p:nvPr/>
        </p:nvSpPr>
        <p:spPr>
          <a:xfrm>
            <a:off x="548640" y="1463040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accent6"/>
          </a:solidFill>
          <a:ln/>
        </p:spPr>
      </p:sp>
      <p:sp>
        <p:nvSpPr>
          <p:cNvPr id="4" name="Delivery number 1"/>
          <p:cNvSpPr txBox="1"/>
          <p:nvPr/>
        </p:nvSpPr>
        <p:spPr>
          <a:xfrm>
            <a:off x="868680" y="1554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</a:t>
            </a:r>
            <a:endParaRPr lang="en-US" sz="5400" dirty="0"/>
          </a:p>
        </p:txBody>
      </p:sp>
      <p:sp>
        <p:nvSpPr>
          <p:cNvPr id="5" name="Delivery label 1"/>
          <p:cNvSpPr txBox="1"/>
          <p:nvPr/>
        </p:nvSpPr>
        <p:spPr>
          <a:xfrm>
            <a:off x="86868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D8E3"/>
                </a:solidFill>
              </a:rPr>
              <a:t>automated tests passing</a:t>
            </a:r>
            <a:endParaRPr lang="en-US" sz="1600" dirty="0"/>
          </a:p>
        </p:txBody>
      </p:sp>
      <p:sp>
        <p:nvSpPr>
          <p:cNvPr id="6" name="Delivery stat 2"/>
          <p:cNvSpPr/>
          <p:nvPr/>
        </p:nvSpPr>
        <p:spPr>
          <a:xfrm>
            <a:off x="4329684" y="1463040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accent6"/>
          </a:solidFill>
          <a:ln/>
        </p:spPr>
      </p:sp>
      <p:sp>
        <p:nvSpPr>
          <p:cNvPr id="7" name="Delivery number 2"/>
          <p:cNvSpPr txBox="1"/>
          <p:nvPr/>
        </p:nvSpPr>
        <p:spPr>
          <a:xfrm>
            <a:off x="4649724" y="1554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5400" dirty="0"/>
          </a:p>
        </p:txBody>
      </p:sp>
      <p:sp>
        <p:nvSpPr>
          <p:cNvPr id="8" name="Delivery label 2"/>
          <p:cNvSpPr txBox="1"/>
          <p:nvPr/>
        </p:nvSpPr>
        <p:spPr>
          <a:xfrm>
            <a:off x="4649724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D8E3"/>
                </a:solidFill>
              </a:rPr>
              <a:t>statement coverage</a:t>
            </a:r>
            <a:endParaRPr lang="en-US" sz="1600" dirty="0"/>
          </a:p>
        </p:txBody>
      </p:sp>
      <p:sp>
        <p:nvSpPr>
          <p:cNvPr id="9" name="Delivery stat 3"/>
          <p:cNvSpPr/>
          <p:nvPr/>
        </p:nvSpPr>
        <p:spPr>
          <a:xfrm>
            <a:off x="8110728" y="1463040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accent6"/>
          </a:solidFill>
          <a:ln/>
        </p:spPr>
      </p:sp>
      <p:sp>
        <p:nvSpPr>
          <p:cNvPr id="10" name="Delivery number 3"/>
          <p:cNvSpPr txBox="1"/>
          <p:nvPr/>
        </p:nvSpPr>
        <p:spPr>
          <a:xfrm>
            <a:off x="8430768" y="1554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5400" dirty="0"/>
          </a:p>
        </p:txBody>
      </p:sp>
      <p:sp>
        <p:nvSpPr>
          <p:cNvPr id="11" name="Delivery label 3"/>
          <p:cNvSpPr txBox="1"/>
          <p:nvPr/>
        </p:nvSpPr>
        <p:spPr>
          <a:xfrm>
            <a:off x="8430768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D8E3"/>
                </a:solidFill>
              </a:rPr>
              <a:t>threats analysed</a:t>
            </a:r>
            <a:endParaRPr lang="en-US" sz="1600" dirty="0"/>
          </a:p>
        </p:txBody>
      </p:sp>
      <p:sp>
        <p:nvSpPr>
          <p:cNvPr id="12" name="FaCheckCircle circle"/>
          <p:cNvSpPr/>
          <p:nvPr/>
        </p:nvSpPr>
        <p:spPr>
          <a:xfrm>
            <a:off x="548640" y="35112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FaCheckCircle" descr="CheckCirc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457" y="3605113"/>
            <a:ext cx="159837" cy="159837"/>
          </a:xfrm>
          <a:prstGeom prst="rect">
            <a:avLst/>
          </a:prstGeom>
        </p:spPr>
      </p:pic>
      <p:sp>
        <p:nvSpPr>
          <p:cNvPr id="14" name="Objective status 1"/>
          <p:cNvSpPr txBox="1"/>
          <p:nvPr/>
        </p:nvSpPr>
        <p:spPr>
          <a:xfrm>
            <a:off x="1051560" y="347472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O1  SHA-256 hash at upload</a:t>
            </a:r>
            <a:endParaRPr lang="en-US" sz="1600" dirty="0"/>
          </a:p>
        </p:txBody>
      </p:sp>
      <p:sp>
        <p:nvSpPr>
          <p:cNvPr id="15" name="FaCheckCircle circle"/>
          <p:cNvSpPr/>
          <p:nvPr/>
        </p:nvSpPr>
        <p:spPr>
          <a:xfrm>
            <a:off x="548640" y="405993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FaCheckCircle" descr="CheckCirc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57" y="4153753"/>
            <a:ext cx="159837" cy="159837"/>
          </a:xfrm>
          <a:prstGeom prst="rect">
            <a:avLst/>
          </a:prstGeom>
        </p:spPr>
      </p:pic>
      <p:sp>
        <p:nvSpPr>
          <p:cNvPr id="17" name="Objective status 2"/>
          <p:cNvSpPr txBox="1"/>
          <p:nvPr/>
        </p:nvSpPr>
        <p:spPr>
          <a:xfrm>
            <a:off x="1051560" y="402336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O2  Hash-chained, append-only log</a:t>
            </a:r>
            <a:endParaRPr lang="en-US" sz="1600" dirty="0"/>
          </a:p>
        </p:txBody>
      </p:sp>
      <p:sp>
        <p:nvSpPr>
          <p:cNvPr id="18" name="FaCheckCircle circle"/>
          <p:cNvSpPr/>
          <p:nvPr/>
        </p:nvSpPr>
        <p:spPr>
          <a:xfrm>
            <a:off x="548640" y="460857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FaCheckCircle" descr="CheckCirc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57" y="4702393"/>
            <a:ext cx="159837" cy="159837"/>
          </a:xfrm>
          <a:prstGeom prst="rect">
            <a:avLst/>
          </a:prstGeom>
        </p:spPr>
      </p:pic>
      <p:sp>
        <p:nvSpPr>
          <p:cNvPr id="20" name="Objective status 3"/>
          <p:cNvSpPr txBox="1"/>
          <p:nvPr/>
        </p:nvSpPr>
        <p:spPr>
          <a:xfrm>
            <a:off x="1051560" y="457200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O3  Integrity checks on demand and on download</a:t>
            </a:r>
            <a:endParaRPr lang="en-US" sz="1600" dirty="0"/>
          </a:p>
        </p:txBody>
      </p:sp>
      <p:sp>
        <p:nvSpPr>
          <p:cNvPr id="21" name="FaCheckCircle circle"/>
          <p:cNvSpPr/>
          <p:nvPr/>
        </p:nvSpPr>
        <p:spPr>
          <a:xfrm>
            <a:off x="6217920" y="35112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FaCheckCircle" descr="CheckCircl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737" y="3605113"/>
            <a:ext cx="159837" cy="159837"/>
          </a:xfrm>
          <a:prstGeom prst="rect">
            <a:avLst/>
          </a:prstGeom>
        </p:spPr>
      </p:pic>
      <p:sp>
        <p:nvSpPr>
          <p:cNvPr id="23" name="Objective status 4"/>
          <p:cNvSpPr txBox="1"/>
          <p:nvPr/>
        </p:nvSpPr>
        <p:spPr>
          <a:xfrm>
            <a:off x="6720840" y="347472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O4  Printable case report</a:t>
            </a:r>
            <a:endParaRPr lang="en-US" sz="1600" dirty="0"/>
          </a:p>
        </p:txBody>
      </p:sp>
      <p:sp>
        <p:nvSpPr>
          <p:cNvPr id="24" name="FaCheckCircle circle"/>
          <p:cNvSpPr/>
          <p:nvPr/>
        </p:nvSpPr>
        <p:spPr>
          <a:xfrm>
            <a:off x="6217920" y="405993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FaCheckCircle" descr="CheckCircl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1737" y="4153753"/>
            <a:ext cx="159837" cy="159837"/>
          </a:xfrm>
          <a:prstGeom prst="rect">
            <a:avLst/>
          </a:prstGeom>
        </p:spPr>
      </p:pic>
      <p:sp>
        <p:nvSpPr>
          <p:cNvPr id="26" name="Objective status 5"/>
          <p:cNvSpPr txBox="1"/>
          <p:nvPr/>
        </p:nvSpPr>
        <p:spPr>
          <a:xfrm>
            <a:off x="6720840" y="402336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O5  Hardening guided by a threat model</a:t>
            </a:r>
            <a:endParaRPr lang="en-US" sz="1600" dirty="0"/>
          </a:p>
        </p:txBody>
      </p:sp>
      <p:sp>
        <p:nvSpPr>
          <p:cNvPr id="27" name="FaCheckCircle circle"/>
          <p:cNvSpPr/>
          <p:nvPr/>
        </p:nvSpPr>
        <p:spPr>
          <a:xfrm>
            <a:off x="6217920" y="460857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FaCheckCircle" descr="CheckCircl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1737" y="4702393"/>
            <a:ext cx="159837" cy="159837"/>
          </a:xfrm>
          <a:prstGeom prst="rect">
            <a:avLst/>
          </a:prstGeom>
        </p:spPr>
      </p:pic>
      <p:sp>
        <p:nvSpPr>
          <p:cNvPr id="29" name="Objective status 6"/>
          <p:cNvSpPr txBox="1"/>
          <p:nvPr/>
        </p:nvSpPr>
        <p:spPr>
          <a:xfrm>
            <a:off x="6720840" y="457200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O6  Tests, live deployment, documentation</a:t>
            </a:r>
            <a:endParaRPr lang="en-US" sz="1600" dirty="0"/>
          </a:p>
        </p:txBody>
      </p:sp>
      <p:sp>
        <p:nvSpPr>
          <p:cNvPr id="30" name="Closing line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D8E3"/>
                </a:solidFill>
              </a:rPr>
              <a:t>Live at samkariuki.pythonanywhere.com. Still to do: the tagged v1.0.0 release. Future work: administrator account management.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iTrack">
  <a:themeElements>
    <a:clrScheme name="EviTrack">
      <a:dk1>
        <a:srgbClr val="1B2733"/>
      </a:dk1>
      <a:lt1>
        <a:srgbClr val="FFFFFF"/>
      </a:lt1>
      <a:dk2>
        <a:srgbClr val="1F2D3D"/>
      </a:dk2>
      <a:lt2>
        <a:srgbClr val="F3F5F8"/>
      </a:lt2>
      <a:accent1>
        <a:srgbClr val="E0A100"/>
      </a:accent1>
      <a:accent2>
        <a:srgbClr val="3B6EA5"/>
      </a:accent2>
      <a:accent3>
        <a:srgbClr val="1A7F37"/>
      </a:accent3>
      <a:accent4>
        <a:srgbClr val="B42318"/>
      </a:accent4>
      <a:accent5>
        <a:srgbClr val="5B6B7C"/>
      </a:accent5>
      <a:accent6>
        <a:srgbClr val="2B3D50"/>
      </a:accent6>
      <a:hlink>
        <a:srgbClr val="3B6EA5"/>
      </a:hlink>
      <a:folHlink>
        <a:srgbClr val="5B6B7C"/>
      </a:folHlink>
    </a:clrScheme>
    <a:fontScheme name="EviTrac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EviTrack: Project proposal</dc:title>
  <dc:subject>Capstone project proposal</dc:subject>
  <dc:creator>Sam Kariuki</dc:creator>
  <cp:lastModifiedBy>Sam Kariuki</cp:lastModifiedBy>
  <cp:revision>1</cp:revision>
  <dcterms:created xsi:type="dcterms:W3CDTF">2026-10-23T03:07:07Z</dcterms:created>
  <dcterms:modified xsi:type="dcterms:W3CDTF">2026-10-23T03:07:07Z</dcterms:modified>
</cp:coreProperties>
</file>